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4" r:id="rId15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91695" cy="4572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916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222222"/>
                </a:solidFill>
                <a:latin typeface="맑은 고딕"/>
              </a:rPr>
              <a:t>스터디룸 예약 (샘플)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898648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</a:rPr>
              <a:t>화면설계서 (Low-fidelity Wireframe)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5760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B6B73"/>
                </a:solidFill>
                <a:latin typeface="맑은 고딕"/>
              </a:rPr>
              <a:t>v1.0  ·  2026-10-29  ·  화면 3개 (PC 시나리오 → Mobile 시나리오)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222222"/>
                </a:solidFill>
                <a:latin typeface="맑은 고딕"/>
              </a:rPr>
              <a:t>PC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204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B73"/>
                </a:solidFill>
                <a:latin typeface="맑은 고딕"/>
              </a:rPr>
              <a:t>PC 시나리오 (1000px 기준, PC 전용 화면 포함)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37160" y="91440"/>
          <a:ext cx="11612879" cy="11201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914400"/>
                <a:gridCol w="4434840"/>
                <a:gridCol w="868680"/>
                <a:gridCol w="2788920"/>
                <a:gridCol w="731520"/>
                <a:gridCol w="1874519"/>
              </a:tblGrid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Page Title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</a:rPr>
                        <a:t>로그인  (PC)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Screen ID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</a:rPr>
                        <a:t>SCR-001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Date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</a:rPr>
                        <a:t>2026-10-29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Screen Path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</a:rPr>
                        <a:t>/login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Platform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 gridSpan="3"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</a:rPr>
                        <a:t>모바일+PC 반응형 / P0  (이 슬라이드: PC 화면)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접근 권한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 gridSpan="5"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</a:rPr>
                        <a:t>전체 공개 (로그인 상태면 SCR-002로 이동)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관련 기능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 gridSpan="5"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</a:rPr>
                        <a:t>F-001 이메일 로그인, F-002 소셜 로그인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관련 API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 gridSpan="5"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</a:rPr>
                        <a:t>API-001 POST /auth/login, API-002 GET /auth/oauth/{provider}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37160" y="6620256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B6B73"/>
                </a:solidFill>
                <a:latin typeface="맑은 고딕"/>
              </a:rPr>
              <a:t>스터디룸 예약 (샘플) 화면설계서 v1.0  ·  low-fidelity wireframe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40135" y="662025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6B6B73"/>
                </a:solidFill>
                <a:latin typeface="맑은 고딕"/>
              </a:rPr>
              <a:t>4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1435608"/>
            <a:ext cx="56692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B6B73"/>
                </a:solidFill>
                <a:latin typeface="맑은 고딕"/>
              </a:rPr>
              <a:t>PC 기본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1636776"/>
            <a:ext cx="5669280" cy="3764313"/>
          </a:xfrm>
          <a:prstGeom prst="roundRect">
            <a:avLst>
              <a:gd name="adj" fmla="val 1506"/>
            </a:avLst>
          </a:prstGeom>
          <a:solidFill>
            <a:srgbClr val="FFFFFF"/>
          </a:solidFill>
          <a:ln w="6350">
            <a:solidFill>
              <a:srgbClr val="C8C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2829" y="1642445"/>
            <a:ext cx="5657941" cy="147401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9522" y="1690634"/>
            <a:ext cx="51023" cy="51023"/>
          </a:xfrm>
          <a:prstGeom prst="ellipse">
            <a:avLst/>
          </a:prstGeom>
          <a:solidFill>
            <a:srgbClr val="C8C8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8892" y="1690634"/>
            <a:ext cx="51023" cy="51023"/>
          </a:xfrm>
          <a:prstGeom prst="ellipse">
            <a:avLst/>
          </a:prstGeom>
          <a:solidFill>
            <a:srgbClr val="C8C8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8261" y="1690634"/>
            <a:ext cx="51023" cy="51023"/>
          </a:xfrm>
          <a:prstGeom prst="ellipse">
            <a:avLst/>
          </a:prstGeom>
          <a:solidFill>
            <a:srgbClr val="C8C8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4324" y="1665299"/>
            <a:ext cx="800077" cy="1016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2356" y="1676638"/>
            <a:ext cx="899610" cy="7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91" b="0" i="0">
                <a:solidFill>
                  <a:srgbClr val="6B6B73"/>
                </a:solidFill>
                <a:latin typeface="맑은 고딕"/>
              </a:rPr>
              <a:t>studyroom.example/login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2829" y="1789846"/>
            <a:ext cx="5657941" cy="29480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142829" y="2084649"/>
            <a:ext cx="5657941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56214" y="1880023"/>
            <a:ext cx="551381" cy="10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14" b="1" i="0">
                <a:solidFill>
                  <a:srgbClr val="222222"/>
                </a:solidFill>
                <a:latin typeface="맑은 고딕"/>
              </a:rPr>
              <a:t>StudyRoom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9216" y="1890742"/>
            <a:ext cx="347449" cy="850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5" b="0" i="0">
                <a:solidFill>
                  <a:srgbClr val="6B6B73"/>
                </a:solidFill>
                <a:latin typeface="맑은 고딕"/>
              </a:rPr>
              <a:t>이용 안내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51932" y="1890742"/>
            <a:ext cx="304780" cy="850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5" b="0" i="0">
                <a:solidFill>
                  <a:srgbClr val="6B6B73"/>
                </a:solidFill>
                <a:latin typeface="맑은 고딕"/>
              </a:rPr>
              <a:t>문의하기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2829" y="2084649"/>
            <a:ext cx="5657941" cy="3056007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837943" y="2356774"/>
            <a:ext cx="2267712" cy="246640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C8C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65725" y="2532522"/>
            <a:ext cx="1412149" cy="1360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92" b="1" i="0">
                <a:solidFill>
                  <a:srgbClr val="222222"/>
                </a:solidFill>
                <a:latin typeface="맑은 고딕"/>
              </a:rPr>
              <a:t>스터디룸 예약에 로그인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02353" y="2804647"/>
            <a:ext cx="209536" cy="7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91" b="1" i="0">
                <a:solidFill>
                  <a:srgbClr val="6B6B73"/>
                </a:solidFill>
                <a:latin typeface="맑은 고딕"/>
              </a:rPr>
              <a:t>이메일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02353" y="2906340"/>
            <a:ext cx="1938893" cy="18141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64715" y="2953377"/>
            <a:ext cx="700124" cy="850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5" b="0" i="0">
                <a:solidFill>
                  <a:srgbClr val="6B6B73"/>
                </a:solidFill>
                <a:latin typeface="맑은 고딕"/>
              </a:rPr>
              <a:t>name@example.com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02353" y="3161457"/>
            <a:ext cx="279382" cy="7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91" b="1" i="0">
                <a:solidFill>
                  <a:srgbClr val="6B6B73"/>
                </a:solidFill>
                <a:latin typeface="맑은 고딕"/>
              </a:rPr>
              <a:t>비밀번호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02353" y="3263150"/>
            <a:ext cx="1938893" cy="18141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64715" y="3310188"/>
            <a:ext cx="313923" cy="850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5" b="0" i="0">
                <a:solidFill>
                  <a:srgbClr val="6B6B73"/>
                </a:solidFill>
                <a:latin typeface="맑은 고딕"/>
              </a:rPr>
              <a:t>8자 이상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61158" y="3310188"/>
            <a:ext cx="152390" cy="850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5" b="0" i="0">
                <a:solidFill>
                  <a:srgbClr val="6B6B73"/>
                </a:solidFill>
                <a:latin typeface="맑은 고딕"/>
              </a:rPr>
              <a:t>보기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57470" y="3540945"/>
            <a:ext cx="423644" cy="850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5" b="0" i="0">
                <a:solidFill>
                  <a:srgbClr val="6B6B73"/>
                </a:solidFill>
                <a:latin typeface="맑은 고딕"/>
              </a:rPr>
              <a:t>로그인 유지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38415" y="3542008"/>
            <a:ext cx="85039" cy="85039"/>
          </a:xfrm>
          <a:prstGeom prst="roundRect">
            <a:avLst>
              <a:gd name="adj" fmla="val 20000"/>
            </a:avLst>
          </a:prstGeom>
          <a:noFill/>
          <a:ln w="635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19239" y="3540945"/>
            <a:ext cx="585178" cy="850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5" b="1" i="0" u="sng">
                <a:solidFill>
                  <a:srgbClr val="2A4DA0"/>
                </a:solidFill>
                <a:latin typeface="맑은 고딕"/>
              </a:rPr>
              <a:t>비밀번호 찾기 &gt;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002353" y="3724576"/>
            <a:ext cx="1938893" cy="260786"/>
          </a:xfrm>
          <a:prstGeom prst="roundRect">
            <a:avLst>
              <a:gd name="adj" fmla="val 26086"/>
            </a:avLst>
          </a:prstGeom>
          <a:solidFill>
            <a:srgbClr val="3F3F46"/>
          </a:solidFill>
          <a:ln w="6350">
            <a:solidFill>
              <a:srgbClr val="3F3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68778" y="3803061"/>
            <a:ext cx="266682" cy="963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24" b="1" i="0">
                <a:solidFill>
                  <a:srgbClr val="FFFFFF"/>
                </a:solidFill>
                <a:latin typeface="맑은 고딕"/>
              </a:rPr>
              <a:t>로그인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01954" y="4081741"/>
            <a:ext cx="139691" cy="7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491" b="0" i="0">
                <a:solidFill>
                  <a:srgbClr val="9A9AA2"/>
                </a:solidFill>
                <a:latin typeface="맑은 고딕"/>
              </a:rPr>
              <a:t>또는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002353" y="4257134"/>
            <a:ext cx="941100" cy="18141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87411" y="4304172"/>
            <a:ext cx="499840" cy="850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5" b="1" i="0">
                <a:solidFill>
                  <a:srgbClr val="222222"/>
                </a:solidFill>
                <a:latin typeface="맑은 고딕"/>
              </a:rPr>
              <a:t>카카오로 시작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000146" y="4257134"/>
            <a:ext cx="941100" cy="18141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14614" y="4304172"/>
            <a:ext cx="423644" cy="850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5" b="1" i="0">
                <a:solidFill>
                  <a:srgbClr val="222222"/>
                </a:solidFill>
                <a:latin typeface="맑은 고딕"/>
              </a:rPr>
              <a:t>구글로 시작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05807" y="4563276"/>
            <a:ext cx="889959" cy="850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535" b="0" i="0">
                <a:solidFill>
                  <a:srgbClr val="6B6B73"/>
                </a:solidFill>
                <a:latin typeface="맑은 고딕"/>
              </a:rPr>
              <a:t>아직 회원이 아니신가요?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81916" y="4563276"/>
            <a:ext cx="390119" cy="850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535" b="1" i="0" u="sng">
                <a:solidFill>
                  <a:srgbClr val="2A4DA0"/>
                </a:solidFill>
                <a:latin typeface="맑은 고딕"/>
              </a:rPr>
              <a:t>회원가입 &gt;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42829" y="5140656"/>
            <a:ext cx="5657941" cy="254763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142829" y="5140656"/>
            <a:ext cx="5657941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56214" y="5231365"/>
            <a:ext cx="279382" cy="7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91" b="0" i="0">
                <a:solidFill>
                  <a:srgbClr val="6B6B73"/>
                </a:solidFill>
                <a:latin typeface="맑은 고딕"/>
              </a:rPr>
              <a:t>이용약관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2710" y="5231365"/>
            <a:ext cx="597877" cy="7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91" b="0" i="0">
                <a:solidFill>
                  <a:srgbClr val="6B6B73"/>
                </a:solidFill>
                <a:latin typeface="맑은 고딕"/>
              </a:rPr>
              <a:t>개인정보 처리방침</a:t>
            </a:r>
          </a:p>
        </p:txBody>
      </p:sp>
      <p:sp>
        <p:nvSpPr>
          <p:cNvPr id="44" name="Oval 43"/>
          <p:cNvSpPr/>
          <p:nvPr/>
        </p:nvSpPr>
        <p:spPr>
          <a:xfrm>
            <a:off x="61630" y="1708647"/>
            <a:ext cx="173736" cy="173736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45" name="Oval 44"/>
          <p:cNvSpPr/>
          <p:nvPr/>
        </p:nvSpPr>
        <p:spPr>
          <a:xfrm>
            <a:off x="1801185" y="2798978"/>
            <a:ext cx="173736" cy="173736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46" name="Oval 45"/>
          <p:cNvSpPr/>
          <p:nvPr/>
        </p:nvSpPr>
        <p:spPr>
          <a:xfrm>
            <a:off x="1801185" y="3155788"/>
            <a:ext cx="173736" cy="173736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47" name="Oval 46"/>
          <p:cNvSpPr/>
          <p:nvPr/>
        </p:nvSpPr>
        <p:spPr>
          <a:xfrm>
            <a:off x="1966508" y="3497660"/>
            <a:ext cx="173736" cy="173736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48" name="Oval 47"/>
          <p:cNvSpPr/>
          <p:nvPr/>
        </p:nvSpPr>
        <p:spPr>
          <a:xfrm>
            <a:off x="3182009" y="3497704"/>
            <a:ext cx="173736" cy="173736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49" name="Oval 48"/>
          <p:cNvSpPr/>
          <p:nvPr/>
        </p:nvSpPr>
        <p:spPr>
          <a:xfrm>
            <a:off x="1801185" y="3724576"/>
            <a:ext cx="173736" cy="173736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50" name="Oval 49"/>
          <p:cNvSpPr/>
          <p:nvPr/>
        </p:nvSpPr>
        <p:spPr>
          <a:xfrm>
            <a:off x="1921154" y="4175936"/>
            <a:ext cx="173736" cy="173736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51" name="Oval 50"/>
          <p:cNvSpPr/>
          <p:nvPr/>
        </p:nvSpPr>
        <p:spPr>
          <a:xfrm>
            <a:off x="3097675" y="4362108"/>
            <a:ext cx="173736" cy="173736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80760" y="1444752"/>
            <a:ext cx="5973775" cy="237744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Description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80760" y="1682496"/>
            <a:ext cx="5973775" cy="4846320"/>
          </a:xfrm>
          <a:prstGeom prst="rect">
            <a:avLst/>
          </a:prstGeom>
          <a:noFill/>
          <a:ln w="9525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172200" y="1783080"/>
            <a:ext cx="5790895" cy="170688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17920" y="1801368"/>
            <a:ext cx="5699455" cy="1341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222222"/>
                </a:solidFill>
                <a:latin typeface="맑은 고딕"/>
              </a:rPr>
              <a:t>화면 구성 요소</a:t>
            </a:r>
          </a:p>
        </p:txBody>
      </p:sp>
      <p:sp>
        <p:nvSpPr>
          <p:cNvPr id="56" name="Oval 55"/>
          <p:cNvSpPr/>
          <p:nvPr/>
        </p:nvSpPr>
        <p:spPr>
          <a:xfrm>
            <a:off x="6172200" y="1994916"/>
            <a:ext cx="155448" cy="155448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6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46520" y="1990344"/>
            <a:ext cx="551657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맑은 고딕"/>
              </a:rPr>
              <a:t>글로벌 헤더</a:t>
            </a:r>
            <a:r>
              <a:rPr sz="800">
                <a:solidFill>
                  <a:srgbClr val="222222"/>
                </a:solidFill>
                <a:latin typeface="맑은 고딕"/>
              </a:rPr>
              <a:t>  로고를 누르면 홈</a:t>
            </a:r>
          </a:p>
        </p:txBody>
      </p:sp>
      <p:sp>
        <p:nvSpPr>
          <p:cNvPr id="58" name="Oval 57"/>
          <p:cNvSpPr/>
          <p:nvPr/>
        </p:nvSpPr>
        <p:spPr>
          <a:xfrm>
            <a:off x="6172200" y="2161032"/>
            <a:ext cx="155448" cy="155448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6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46520" y="2156460"/>
            <a:ext cx="551657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맑은 고딕"/>
              </a:rPr>
              <a:t>이메일 입력</a:t>
            </a:r>
            <a:r>
              <a:rPr sz="800">
                <a:solidFill>
                  <a:srgbClr val="222222"/>
                </a:solidFill>
                <a:latin typeface="맑은 고딕"/>
              </a:rPr>
              <a:t>  이메일 형식 검사, 포커스를 잃을 때 오류 표시</a:t>
            </a:r>
          </a:p>
        </p:txBody>
      </p:sp>
      <p:sp>
        <p:nvSpPr>
          <p:cNvPr id="60" name="Oval 59"/>
          <p:cNvSpPr/>
          <p:nvPr/>
        </p:nvSpPr>
        <p:spPr>
          <a:xfrm>
            <a:off x="6172200" y="2327148"/>
            <a:ext cx="155448" cy="155448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6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46520" y="2322576"/>
            <a:ext cx="551657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맑은 고딕"/>
              </a:rPr>
              <a:t>비밀번호 입력</a:t>
            </a:r>
            <a:r>
              <a:rPr sz="800">
                <a:solidFill>
                  <a:srgbClr val="222222"/>
                </a:solidFill>
                <a:latin typeface="맑은 고딕"/>
              </a:rPr>
              <a:t>  8자 이상, 눈 아이콘으로 표시/숨김</a:t>
            </a:r>
          </a:p>
        </p:txBody>
      </p:sp>
      <p:sp>
        <p:nvSpPr>
          <p:cNvPr id="62" name="Oval 61"/>
          <p:cNvSpPr/>
          <p:nvPr/>
        </p:nvSpPr>
        <p:spPr>
          <a:xfrm>
            <a:off x="6172200" y="2493264"/>
            <a:ext cx="155448" cy="155448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6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46520" y="2488692"/>
            <a:ext cx="551657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맑은 고딕"/>
              </a:rPr>
              <a:t>로그인 유지</a:t>
            </a:r>
            <a:r>
              <a:rPr sz="800">
                <a:solidFill>
                  <a:srgbClr val="222222"/>
                </a:solidFill>
                <a:latin typeface="맑은 고딕"/>
              </a:rPr>
              <a:t>  체크 시 30일 유지</a:t>
            </a:r>
          </a:p>
        </p:txBody>
      </p:sp>
      <p:sp>
        <p:nvSpPr>
          <p:cNvPr id="64" name="Oval 63"/>
          <p:cNvSpPr/>
          <p:nvPr/>
        </p:nvSpPr>
        <p:spPr>
          <a:xfrm>
            <a:off x="6172200" y="2659380"/>
            <a:ext cx="155448" cy="155448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6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46520" y="2654808"/>
            <a:ext cx="551657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맑은 고딕"/>
              </a:rPr>
              <a:t>비밀번호 찾기</a:t>
            </a:r>
            <a:r>
              <a:rPr sz="800">
                <a:solidFill>
                  <a:srgbClr val="222222"/>
                </a:solidFill>
                <a:latin typeface="맑은 고딕"/>
              </a:rPr>
              <a:t>  비밀번호 재설정 화면으로 이동</a:t>
            </a:r>
          </a:p>
        </p:txBody>
      </p:sp>
      <p:sp>
        <p:nvSpPr>
          <p:cNvPr id="66" name="Oval 65"/>
          <p:cNvSpPr/>
          <p:nvPr/>
        </p:nvSpPr>
        <p:spPr>
          <a:xfrm>
            <a:off x="6172200" y="2825496"/>
            <a:ext cx="155448" cy="155448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65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46520" y="2820924"/>
            <a:ext cx="551657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맑은 고딕"/>
              </a:rPr>
              <a:t>로그인 버튼</a:t>
            </a:r>
            <a:r>
              <a:rPr sz="800">
                <a:solidFill>
                  <a:srgbClr val="222222"/>
                </a:solidFill>
                <a:latin typeface="맑은 고딕"/>
              </a:rPr>
              <a:t>  두 입력이 모두 유효할 때만 활성</a:t>
            </a:r>
          </a:p>
        </p:txBody>
      </p:sp>
      <p:sp>
        <p:nvSpPr>
          <p:cNvPr id="68" name="Oval 67"/>
          <p:cNvSpPr/>
          <p:nvPr/>
        </p:nvSpPr>
        <p:spPr>
          <a:xfrm>
            <a:off x="6172200" y="2991612"/>
            <a:ext cx="155448" cy="155448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65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46520" y="2987040"/>
            <a:ext cx="551657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맑은 고딕"/>
              </a:rPr>
              <a:t>소셜 로그인</a:t>
            </a:r>
            <a:r>
              <a:rPr sz="800">
                <a:solidFill>
                  <a:srgbClr val="222222"/>
                </a:solidFill>
                <a:latin typeface="맑은 고딕"/>
              </a:rPr>
              <a:t>  카카오, 구글. 처음이면 약관 동의 후 가입</a:t>
            </a:r>
          </a:p>
        </p:txBody>
      </p:sp>
      <p:sp>
        <p:nvSpPr>
          <p:cNvPr id="70" name="Oval 69"/>
          <p:cNvSpPr/>
          <p:nvPr/>
        </p:nvSpPr>
        <p:spPr>
          <a:xfrm>
            <a:off x="6172200" y="3157728"/>
            <a:ext cx="155448" cy="155448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65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46520" y="3153156"/>
            <a:ext cx="551657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맑은 고딕"/>
              </a:rPr>
              <a:t>회원가입 링크</a:t>
            </a:r>
            <a:r>
              <a:rPr sz="800">
                <a:solidFill>
                  <a:srgbClr val="222222"/>
                </a:solidFill>
                <a:latin typeface="맑은 고딕"/>
              </a:rPr>
              <a:t>  회원가입 화면으로 이동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72200" y="3328415"/>
            <a:ext cx="5790895" cy="170688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17920" y="3346703"/>
            <a:ext cx="5699455" cy="1341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222222"/>
                </a:solidFill>
                <a:latin typeface="맑은 고딕"/>
              </a:rPr>
              <a:t>상태별 화면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17920" y="3535680"/>
            <a:ext cx="574517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맑은 고딕"/>
              </a:rPr>
              <a:t>· </a:t>
            </a:r>
            <a:r>
              <a:rPr b="1" sz="800">
                <a:solidFill>
                  <a:srgbClr val="222222"/>
                </a:solidFill>
                <a:latin typeface="맑은 고딕"/>
              </a:rPr>
              <a:t>기본</a:t>
            </a:r>
            <a:r>
              <a:rPr sz="800">
                <a:solidFill>
                  <a:srgbClr val="6B6B73"/>
                </a:solidFill>
                <a:latin typeface="맑은 고딕"/>
              </a:rPr>
              <a:t>  |  처음 진입  -&gt;  빈 입력칸, 로그인 버튼 비활성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17920" y="3701796"/>
            <a:ext cx="574517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맑은 고딕"/>
              </a:rPr>
              <a:t>· </a:t>
            </a:r>
            <a:r>
              <a:rPr b="1" sz="800">
                <a:solidFill>
                  <a:srgbClr val="222222"/>
                </a:solidFill>
                <a:latin typeface="맑은 고딕"/>
              </a:rPr>
              <a:t>입력 오류</a:t>
            </a:r>
            <a:r>
              <a:rPr sz="800">
                <a:solidFill>
                  <a:srgbClr val="6B6B73"/>
                </a:solidFill>
                <a:latin typeface="맑은 고딕"/>
              </a:rPr>
              <a:t>  |  이메일 형식이 틀림  -&gt;  입력칸 아래 [오류] 문구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17920" y="3867912"/>
            <a:ext cx="574517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맑은 고딕"/>
              </a:rPr>
              <a:t>· </a:t>
            </a:r>
            <a:r>
              <a:rPr b="1" sz="800">
                <a:solidFill>
                  <a:srgbClr val="222222"/>
                </a:solidFill>
                <a:latin typeface="맑은 고딕"/>
              </a:rPr>
              <a:t>로그인 실패</a:t>
            </a:r>
            <a:r>
              <a:rPr sz="800">
                <a:solidFill>
                  <a:srgbClr val="6B6B73"/>
                </a:solidFill>
                <a:latin typeface="맑은 고딕"/>
              </a:rPr>
              <a:t>  |  이메일 또는 비밀번호 불일치  -&gt;  상단 [오류] 안내, 비밀번호 칸 비움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17920" y="4034028"/>
            <a:ext cx="574517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맑은 고딕"/>
              </a:rPr>
              <a:t>· </a:t>
            </a:r>
            <a:r>
              <a:rPr b="1" sz="800">
                <a:solidFill>
                  <a:srgbClr val="222222"/>
                </a:solidFill>
                <a:latin typeface="맑은 고딕"/>
              </a:rPr>
              <a:t>잠김</a:t>
            </a:r>
            <a:r>
              <a:rPr sz="800">
                <a:solidFill>
                  <a:srgbClr val="6B6B73"/>
                </a:solidFill>
                <a:latin typeface="맑은 고딕"/>
              </a:rPr>
              <a:t>  |  5회 연속 실패  -&gt;  10분 뒤 다시 시도 안내, 로그인 버튼 비활성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72200" y="4209288"/>
            <a:ext cx="5790895" cy="170688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17920" y="4227576"/>
            <a:ext cx="5699455" cy="1341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222222"/>
                </a:solidFill>
                <a:latin typeface="맑은 고딕"/>
              </a:rPr>
              <a:t>처리 규칙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17920" y="4416552"/>
            <a:ext cx="574517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맑은 고딕"/>
              </a:rPr>
              <a:t>- 실패 횟수는 계정 단위로 세고, 성공하면 0으로 초기화한다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217920" y="4582668"/>
            <a:ext cx="574517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맑은 고딕"/>
              </a:rPr>
              <a:t>- 오류 문구는 이메일과 비밀번호 중 무엇이 틀렸는지 알려 주지 않는다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17920" y="4748784"/>
            <a:ext cx="574517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맑은 고딕"/>
              </a:rPr>
              <a:t>- 로그인 성공 시 직전에 보던 화면으로, 없으면 SCR-002로 이동한다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37160" y="91440"/>
          <a:ext cx="11612879" cy="11201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914400"/>
                <a:gridCol w="4434840"/>
                <a:gridCol w="868680"/>
                <a:gridCol w="2788920"/>
                <a:gridCol w="731520"/>
                <a:gridCol w="1874519"/>
              </a:tblGrid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Page Title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</a:rPr>
                        <a:t>예약 관리 (관리자)  (PC)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Screen ID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</a:rPr>
                        <a:t>SCR-003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Date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</a:rPr>
                        <a:t>2026-10-29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Screen Path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</a:rPr>
                        <a:t>/admin/reservations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Platform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 gridSpan="3"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</a:rPr>
                        <a:t>PC 전용 / P1  (이 슬라이드: PC 화면)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접근 권한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 gridSpan="5"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</a:rPr>
                        <a:t>admin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관련 기능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 gridSpan="5"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</a:rPr>
                        <a:t>F-030 예약 현황 조회, F-031 예약 취소, F-032 노쇼 처리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관련 API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 gridSpan="5"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</a:rPr>
                        <a:t>API-030 GET /admin/reservations, API-031 PATCH /admin/reservations/{id}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37160" y="6620256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B6B73"/>
                </a:solidFill>
                <a:latin typeface="맑은 고딕"/>
              </a:rPr>
              <a:t>스터디룸 예약 (샘플) 화면설계서 v1.0  ·  low-fidelity wireframe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40135" y="662025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6B6B73"/>
                </a:solidFill>
                <a:latin typeface="맑은 고딕"/>
              </a:rPr>
              <a:t>5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1435608"/>
            <a:ext cx="56692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B6B73"/>
                </a:solidFill>
                <a:latin typeface="맑은 고딕"/>
              </a:rPr>
              <a:t>PC 기본 (관리자)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1636776"/>
            <a:ext cx="5669280" cy="2566766"/>
          </a:xfrm>
          <a:prstGeom prst="roundRect">
            <a:avLst>
              <a:gd name="adj" fmla="val 2208"/>
            </a:avLst>
          </a:prstGeom>
          <a:solidFill>
            <a:srgbClr val="FFFFFF"/>
          </a:solidFill>
          <a:ln w="6350">
            <a:solidFill>
              <a:srgbClr val="C8C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2829" y="1642445"/>
            <a:ext cx="5657941" cy="147401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9522" y="1690634"/>
            <a:ext cx="51023" cy="51023"/>
          </a:xfrm>
          <a:prstGeom prst="ellipse">
            <a:avLst/>
          </a:prstGeom>
          <a:solidFill>
            <a:srgbClr val="C8C8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8892" y="1690634"/>
            <a:ext cx="51023" cy="51023"/>
          </a:xfrm>
          <a:prstGeom prst="ellipse">
            <a:avLst/>
          </a:prstGeom>
          <a:solidFill>
            <a:srgbClr val="C8C8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8261" y="1690634"/>
            <a:ext cx="51023" cy="51023"/>
          </a:xfrm>
          <a:prstGeom prst="ellipse">
            <a:avLst/>
          </a:prstGeom>
          <a:solidFill>
            <a:srgbClr val="C8C8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4324" y="1665299"/>
            <a:ext cx="1172477" cy="1016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2356" y="1676638"/>
            <a:ext cx="1408085" cy="7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91" b="0" i="0">
                <a:solidFill>
                  <a:srgbClr val="6B6B73"/>
                </a:solidFill>
                <a:latin typeface="맑은 고딕"/>
              </a:rPr>
              <a:t>studyroom.example/admin/reservations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2829" y="1789846"/>
            <a:ext cx="5657941" cy="249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142829" y="2039294"/>
            <a:ext cx="5657941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56214" y="1857346"/>
            <a:ext cx="873704" cy="10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14" b="1" i="0">
                <a:solidFill>
                  <a:srgbClr val="222222"/>
                </a:solidFill>
                <a:latin typeface="맑은 고딕"/>
              </a:rPr>
              <a:t>StudyRoom 관리자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1579" y="1868064"/>
            <a:ext cx="499840" cy="850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5" b="0" i="0">
                <a:solidFill>
                  <a:srgbClr val="6B6B73"/>
                </a:solidFill>
                <a:latin typeface="맑은 고딕"/>
              </a:rPr>
              <a:t>관리자 홍길동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51932" y="1868064"/>
            <a:ext cx="304780" cy="850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5" b="0" i="0">
                <a:solidFill>
                  <a:srgbClr val="6B6B73"/>
                </a:solidFill>
                <a:latin typeface="맑은 고딕"/>
              </a:rPr>
              <a:t>로그아웃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2829" y="2039294"/>
            <a:ext cx="5657941" cy="2158578"/>
          </a:xfrm>
          <a:prstGeom prst="rect">
            <a:avLst/>
          </a:prstGeom>
          <a:solidFill>
            <a:srgbClr val="E9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42829" y="2039294"/>
            <a:ext cx="1077163" cy="215857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1219992" y="2039294"/>
            <a:ext cx="0" cy="2158579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33537" y="2158349"/>
            <a:ext cx="304780" cy="850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5" b="0" i="0">
                <a:solidFill>
                  <a:srgbClr val="222222"/>
                </a:solidFill>
                <a:latin typeface="맑은 고딕"/>
              </a:rPr>
              <a:t>대시보드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2829" y="2296627"/>
            <a:ext cx="1071493" cy="189300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142829" y="2296627"/>
            <a:ext cx="0" cy="189300"/>
          </a:xfrm>
          <a:prstGeom prst="line">
            <a:avLst/>
          </a:prstGeom>
          <a:ln w="17007">
            <a:solidFill>
              <a:srgbClr val="3F3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50545" y="2347650"/>
            <a:ext cx="347449" cy="850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5" b="1" i="0">
                <a:solidFill>
                  <a:srgbClr val="222222"/>
                </a:solidFill>
                <a:latin typeface="맑은 고딕"/>
              </a:rPr>
              <a:t>예약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537" y="2536951"/>
            <a:ext cx="304780" cy="850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5" b="0" i="0">
                <a:solidFill>
                  <a:srgbClr val="222222"/>
                </a:solidFill>
                <a:latin typeface="맑은 고딕"/>
              </a:rPr>
              <a:t>스터디룸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537" y="2726252"/>
            <a:ext cx="152390" cy="850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5" b="0" i="0">
                <a:solidFill>
                  <a:srgbClr val="222222"/>
                </a:solidFill>
                <a:latin typeface="맑은 고딕"/>
              </a:rPr>
              <a:t>회원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10700" y="2141341"/>
            <a:ext cx="521174" cy="11905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3" b="1" i="0">
                <a:solidFill>
                  <a:srgbClr val="222222"/>
                </a:solidFill>
                <a:latin typeface="맑은 고딕"/>
              </a:rPr>
              <a:t>예약 관리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0700" y="2345967"/>
            <a:ext cx="4399361" cy="458857"/>
          </a:xfrm>
          <a:prstGeom prst="roundRect">
            <a:avLst>
              <a:gd name="adj" fmla="val 12355"/>
            </a:avLst>
          </a:prstGeom>
          <a:solidFill>
            <a:srgbClr val="FFFFFF"/>
          </a:solidFill>
          <a:ln w="6350">
            <a:solidFill>
              <a:srgbClr val="C8C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95740" y="2436675"/>
            <a:ext cx="139691" cy="7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91" b="1" i="0">
                <a:solidFill>
                  <a:srgbClr val="6B6B73"/>
                </a:solidFill>
                <a:latin typeface="맑은 고딕"/>
              </a:rPr>
              <a:t>기간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95740" y="2538368"/>
            <a:ext cx="850392" cy="18141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58102" y="2585405"/>
            <a:ext cx="152390" cy="850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5" b="0" i="0">
                <a:solidFill>
                  <a:srgbClr val="6B6B73"/>
                </a:solidFill>
                <a:latin typeface="맑은 고딕"/>
              </a:rPr>
              <a:t>오늘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40276" y="2585405"/>
            <a:ext cx="51322" cy="850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5" b="0" i="0">
                <a:solidFill>
                  <a:srgbClr val="6B6B73"/>
                </a:solidFill>
                <a:latin typeface="맑은 고딕"/>
              </a:rPr>
              <a:t>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02824" y="2436675"/>
            <a:ext cx="279382" cy="7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91" b="1" i="0">
                <a:solidFill>
                  <a:srgbClr val="6B6B73"/>
                </a:solidFill>
                <a:latin typeface="맑은 고딕"/>
              </a:rPr>
              <a:t>스터디룸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302824" y="2538368"/>
            <a:ext cx="680313" cy="18141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65187" y="2585405"/>
            <a:ext cx="152390" cy="850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5" b="0" i="0">
                <a:solidFill>
                  <a:srgbClr val="6B6B73"/>
                </a:solidFill>
                <a:latin typeface="맑은 고딕"/>
              </a:rPr>
              <a:t>전체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77282" y="2585405"/>
            <a:ext cx="51322" cy="850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5" b="0" i="0">
                <a:solidFill>
                  <a:srgbClr val="6B6B73"/>
                </a:solidFill>
                <a:latin typeface="맑은 고딕"/>
              </a:rPr>
              <a:t>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39831" y="2436675"/>
            <a:ext cx="139691" cy="7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91" b="1" i="0">
                <a:solidFill>
                  <a:srgbClr val="6B6B73"/>
                </a:solidFill>
                <a:latin typeface="맑은 고딕"/>
              </a:rPr>
              <a:t>상태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039831" y="2538368"/>
            <a:ext cx="623620" cy="18141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02193" y="2585405"/>
            <a:ext cx="152390" cy="850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5" b="0" i="0">
                <a:solidFill>
                  <a:srgbClr val="6B6B73"/>
                </a:solidFill>
                <a:latin typeface="맑은 고딕"/>
              </a:rPr>
              <a:t>전체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57596" y="2585405"/>
            <a:ext cx="51322" cy="850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5" b="0" i="0">
                <a:solidFill>
                  <a:srgbClr val="6B6B73"/>
                </a:solidFill>
                <a:latin typeface="맑은 고딕"/>
              </a:rPr>
              <a:t>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20144" y="2436675"/>
            <a:ext cx="209536" cy="7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91" b="1" i="0">
                <a:solidFill>
                  <a:srgbClr val="6B6B73"/>
                </a:solidFill>
                <a:latin typeface="맑은 고딕"/>
              </a:rPr>
              <a:t>예약자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720144" y="2538368"/>
            <a:ext cx="1560380" cy="18141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82507" y="2585405"/>
            <a:ext cx="618704" cy="850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5" b="0" i="0">
                <a:solidFill>
                  <a:srgbClr val="6B6B73"/>
                </a:solidFill>
                <a:latin typeface="맑은 고딕"/>
              </a:rPr>
              <a:t>이름 또는 이메일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337218" y="2538368"/>
            <a:ext cx="287804" cy="181416"/>
          </a:xfrm>
          <a:prstGeom prst="roundRect">
            <a:avLst>
              <a:gd name="adj" fmla="val 25000"/>
            </a:avLst>
          </a:prstGeom>
          <a:solidFill>
            <a:srgbClr val="3F3F46"/>
          </a:solidFill>
          <a:ln w="6350">
            <a:solidFill>
              <a:srgbClr val="3F3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22257" y="2585405"/>
            <a:ext cx="152390" cy="850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5" b="1" i="0">
                <a:solidFill>
                  <a:srgbClr val="FFFFFF"/>
                </a:solidFill>
                <a:latin typeface="맑은 고딕"/>
              </a:rPr>
              <a:t>조회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10700" y="2872856"/>
            <a:ext cx="4399361" cy="976976"/>
          </a:xfrm>
          <a:prstGeom prst="roundRect">
            <a:avLst>
              <a:gd name="adj" fmla="val 5802"/>
            </a:avLst>
          </a:prstGeom>
          <a:solidFill>
            <a:srgbClr val="FFFFFF"/>
          </a:solidFill>
          <a:ln w="6350">
            <a:solidFill>
              <a:srgbClr val="C8C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398574" y="2960730"/>
            <a:ext cx="718049" cy="172292"/>
          </a:xfrm>
          <a:prstGeom prst="rect">
            <a:avLst/>
          </a:prstGeom>
          <a:solidFill>
            <a:srgbClr val="F4F4F5"/>
          </a:solidFill>
          <a:ln w="6350">
            <a:solidFill>
              <a:srgbClr val="C8C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446763" y="3003249"/>
            <a:ext cx="304780" cy="850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5" b="1" i="0">
                <a:solidFill>
                  <a:srgbClr val="6B6B73"/>
                </a:solidFill>
                <a:latin typeface="맑은 고딕"/>
              </a:rPr>
              <a:t>예약번호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16624" y="2960730"/>
            <a:ext cx="587124" cy="172292"/>
          </a:xfrm>
          <a:prstGeom prst="rect">
            <a:avLst/>
          </a:prstGeom>
          <a:solidFill>
            <a:srgbClr val="F4F4F5"/>
          </a:solidFill>
          <a:ln w="6350">
            <a:solidFill>
              <a:srgbClr val="C8C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164813" y="3003249"/>
            <a:ext cx="304780" cy="850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5" b="1" i="0">
                <a:solidFill>
                  <a:srgbClr val="6B6B73"/>
                </a:solidFill>
                <a:latin typeface="맑은 고딕"/>
              </a:rPr>
              <a:t>스터디룸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03749" y="2960730"/>
            <a:ext cx="482951" cy="172292"/>
          </a:xfrm>
          <a:prstGeom prst="rect">
            <a:avLst/>
          </a:prstGeom>
          <a:solidFill>
            <a:srgbClr val="F4F4F5"/>
          </a:solidFill>
          <a:ln w="6350">
            <a:solidFill>
              <a:srgbClr val="C8C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51938" y="3003249"/>
            <a:ext cx="228585" cy="850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5" b="1" i="0">
                <a:solidFill>
                  <a:srgbClr val="6B6B73"/>
                </a:solidFill>
                <a:latin typeface="맑은 고딕"/>
              </a:rPr>
              <a:t>예약자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186701" y="2960730"/>
            <a:ext cx="832498" cy="172292"/>
          </a:xfrm>
          <a:prstGeom prst="rect">
            <a:avLst/>
          </a:prstGeom>
          <a:solidFill>
            <a:srgbClr val="F4F4F5"/>
          </a:solidFill>
          <a:ln w="6350">
            <a:solidFill>
              <a:srgbClr val="C8C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34890" y="3003249"/>
            <a:ext cx="152390" cy="850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5" b="1" i="0">
                <a:solidFill>
                  <a:srgbClr val="6B6B73"/>
                </a:solidFill>
                <a:latin typeface="맑은 고딕"/>
              </a:rPr>
              <a:t>시간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019199" y="2960730"/>
            <a:ext cx="617420" cy="172292"/>
          </a:xfrm>
          <a:prstGeom prst="rect">
            <a:avLst/>
          </a:prstGeom>
          <a:solidFill>
            <a:srgbClr val="F4F4F5"/>
          </a:solidFill>
          <a:ln w="6350">
            <a:solidFill>
              <a:srgbClr val="C8C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067388" y="3003249"/>
            <a:ext cx="152390" cy="850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5" b="1" i="0">
                <a:solidFill>
                  <a:srgbClr val="6B6B73"/>
                </a:solidFill>
                <a:latin typeface="맑은 고딕"/>
              </a:rPr>
              <a:t>상태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636619" y="2960730"/>
            <a:ext cx="985568" cy="172292"/>
          </a:xfrm>
          <a:prstGeom prst="rect">
            <a:avLst/>
          </a:prstGeom>
          <a:solidFill>
            <a:srgbClr val="F4F4F5"/>
          </a:solidFill>
          <a:ln w="6350">
            <a:solidFill>
              <a:srgbClr val="C8C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684808" y="3003249"/>
            <a:ext cx="152390" cy="850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5" b="1" i="0">
                <a:solidFill>
                  <a:srgbClr val="6B6B73"/>
                </a:solidFill>
                <a:latin typeface="맑은 고딕"/>
              </a:rPr>
              <a:t>관리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398574" y="3133023"/>
            <a:ext cx="718049" cy="221101"/>
          </a:xfrm>
          <a:prstGeom prst="rect">
            <a:avLst/>
          </a:prstGeom>
          <a:noFill/>
          <a:ln w="6350">
            <a:solidFill>
              <a:srgbClr val="C8C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446763" y="3199902"/>
            <a:ext cx="384023" cy="850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5" b="0" i="0">
                <a:solidFill>
                  <a:srgbClr val="222222"/>
                </a:solidFill>
                <a:latin typeface="맑은 고딕"/>
              </a:rPr>
              <a:t>R-1029-01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116624" y="3133023"/>
            <a:ext cx="587124" cy="221101"/>
          </a:xfrm>
          <a:prstGeom prst="rect">
            <a:avLst/>
          </a:prstGeom>
          <a:noFill/>
          <a:ln w="6350">
            <a:solidFill>
              <a:srgbClr val="C8C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64813" y="3199902"/>
            <a:ext cx="118864" cy="850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5" b="0" i="0">
                <a:solidFill>
                  <a:srgbClr val="222222"/>
                </a:solidFill>
                <a:latin typeface="맑은 고딕"/>
              </a:rPr>
              <a:t>A룸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03749" y="3133023"/>
            <a:ext cx="482951" cy="221101"/>
          </a:xfrm>
          <a:prstGeom prst="rect">
            <a:avLst/>
          </a:prstGeom>
          <a:noFill/>
          <a:ln w="6350">
            <a:solidFill>
              <a:srgbClr val="C8C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51938" y="3199902"/>
            <a:ext cx="179264" cy="850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5" b="0" i="0">
                <a:solidFill>
                  <a:srgbClr val="222222"/>
                </a:solidFill>
                <a:latin typeface="맑은 고딕"/>
              </a:rPr>
              <a:t>김OO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186701" y="3133023"/>
            <a:ext cx="832498" cy="221101"/>
          </a:xfrm>
          <a:prstGeom prst="rect">
            <a:avLst/>
          </a:prstGeom>
          <a:noFill/>
          <a:ln w="6350">
            <a:solidFill>
              <a:srgbClr val="C8C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34890" y="3199902"/>
            <a:ext cx="469361" cy="850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5" b="0" i="0">
                <a:solidFill>
                  <a:srgbClr val="222222"/>
                </a:solidFill>
                <a:latin typeface="맑은 고딕"/>
              </a:rPr>
              <a:t>10:00~12:00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019199" y="3133023"/>
            <a:ext cx="617420" cy="221101"/>
          </a:xfrm>
          <a:prstGeom prst="rect">
            <a:avLst/>
          </a:prstGeom>
          <a:noFill/>
          <a:ln w="6350">
            <a:solidFill>
              <a:srgbClr val="C8C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4067388" y="3187058"/>
            <a:ext cx="252548" cy="113031"/>
          </a:xfrm>
          <a:prstGeom prst="roundRect">
            <a:avLst>
              <a:gd name="adj" fmla="val 20062"/>
            </a:avLst>
          </a:prstGeom>
          <a:noFill/>
          <a:ln w="635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12742" y="3204066"/>
            <a:ext cx="209536" cy="7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91" b="1" i="0">
                <a:solidFill>
                  <a:srgbClr val="222222"/>
                </a:solidFill>
                <a:latin typeface="맑은 고딕"/>
              </a:rPr>
              <a:t>예약됨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36619" y="3133023"/>
            <a:ext cx="985568" cy="221101"/>
          </a:xfrm>
          <a:prstGeom prst="rect">
            <a:avLst/>
          </a:prstGeom>
          <a:noFill/>
          <a:ln w="6350">
            <a:solidFill>
              <a:srgbClr val="C8C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4684808" y="3169873"/>
            <a:ext cx="221279" cy="147401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635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741501" y="3204066"/>
            <a:ext cx="139691" cy="7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91" b="1" i="0">
                <a:solidFill>
                  <a:srgbClr val="222222"/>
                </a:solidFill>
                <a:latin typeface="맑은 고딕"/>
              </a:rPr>
              <a:t>취소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923981" y="3169873"/>
            <a:ext cx="221279" cy="147401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635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980673" y="3204066"/>
            <a:ext cx="139691" cy="7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91" b="1" i="0">
                <a:solidFill>
                  <a:srgbClr val="222222"/>
                </a:solidFill>
                <a:latin typeface="맑은 고딕"/>
              </a:rPr>
              <a:t>노쇼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398574" y="3354124"/>
            <a:ext cx="718049" cy="221101"/>
          </a:xfrm>
          <a:prstGeom prst="rect">
            <a:avLst/>
          </a:prstGeom>
          <a:noFill/>
          <a:ln w="6350">
            <a:solidFill>
              <a:srgbClr val="C8C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446763" y="3421004"/>
            <a:ext cx="384023" cy="850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5" b="0" i="0">
                <a:solidFill>
                  <a:srgbClr val="222222"/>
                </a:solidFill>
                <a:latin typeface="맑은 고딕"/>
              </a:rPr>
              <a:t>R-1029-02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116624" y="3354124"/>
            <a:ext cx="587124" cy="221101"/>
          </a:xfrm>
          <a:prstGeom prst="rect">
            <a:avLst/>
          </a:prstGeom>
          <a:noFill/>
          <a:ln w="6350">
            <a:solidFill>
              <a:srgbClr val="C8C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164813" y="3421004"/>
            <a:ext cx="118864" cy="850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5" b="0" i="0">
                <a:solidFill>
                  <a:srgbClr val="222222"/>
                </a:solidFill>
                <a:latin typeface="맑은 고딕"/>
              </a:rPr>
              <a:t>B룸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03749" y="3354124"/>
            <a:ext cx="482951" cy="221101"/>
          </a:xfrm>
          <a:prstGeom prst="rect">
            <a:avLst/>
          </a:prstGeom>
          <a:noFill/>
          <a:ln w="6350">
            <a:solidFill>
              <a:srgbClr val="C8C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751938" y="3421004"/>
            <a:ext cx="179264" cy="850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5" b="0" i="0">
                <a:solidFill>
                  <a:srgbClr val="222222"/>
                </a:solidFill>
                <a:latin typeface="맑은 고딕"/>
              </a:rPr>
              <a:t>이OO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186701" y="3354124"/>
            <a:ext cx="832498" cy="221101"/>
          </a:xfrm>
          <a:prstGeom prst="rect">
            <a:avLst/>
          </a:prstGeom>
          <a:noFill/>
          <a:ln w="6350">
            <a:solidFill>
              <a:srgbClr val="C8C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234890" y="3421004"/>
            <a:ext cx="469361" cy="850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5" b="0" i="0">
                <a:solidFill>
                  <a:srgbClr val="222222"/>
                </a:solidFill>
                <a:latin typeface="맑은 고딕"/>
              </a:rPr>
              <a:t>13:00~15:00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019199" y="3354124"/>
            <a:ext cx="617420" cy="221101"/>
          </a:xfrm>
          <a:prstGeom prst="rect">
            <a:avLst/>
          </a:prstGeom>
          <a:noFill/>
          <a:ln w="6350">
            <a:solidFill>
              <a:srgbClr val="C8C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4067388" y="3408160"/>
            <a:ext cx="252548" cy="113031"/>
          </a:xfrm>
          <a:prstGeom prst="roundRect">
            <a:avLst>
              <a:gd name="adj" fmla="val 20062"/>
            </a:avLst>
          </a:prstGeom>
          <a:solidFill>
            <a:srgbClr val="E4E4E7"/>
          </a:solidFill>
          <a:ln w="635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112742" y="3425168"/>
            <a:ext cx="209536" cy="7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91" b="1" i="0">
                <a:solidFill>
                  <a:srgbClr val="222222"/>
                </a:solidFill>
                <a:latin typeface="맑은 고딕"/>
              </a:rPr>
              <a:t>이용중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36619" y="3354124"/>
            <a:ext cx="985568" cy="221101"/>
          </a:xfrm>
          <a:prstGeom prst="rect">
            <a:avLst/>
          </a:prstGeom>
          <a:noFill/>
          <a:ln w="6350">
            <a:solidFill>
              <a:srgbClr val="C8C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4684808" y="3390975"/>
            <a:ext cx="221279" cy="147401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635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741501" y="3425168"/>
            <a:ext cx="139691" cy="7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91" b="1" i="0">
                <a:solidFill>
                  <a:srgbClr val="222222"/>
                </a:solidFill>
                <a:latin typeface="맑은 고딕"/>
              </a:rPr>
              <a:t>취소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923981" y="3390975"/>
            <a:ext cx="221279" cy="147401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635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980673" y="3425168"/>
            <a:ext cx="139691" cy="7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91" b="1" i="0">
                <a:solidFill>
                  <a:srgbClr val="222222"/>
                </a:solidFill>
                <a:latin typeface="맑은 고딕"/>
              </a:rPr>
              <a:t>노쇼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398574" y="3575226"/>
            <a:ext cx="718049" cy="186731"/>
          </a:xfrm>
          <a:prstGeom prst="rect">
            <a:avLst/>
          </a:prstGeom>
          <a:noFill/>
          <a:ln w="6350">
            <a:solidFill>
              <a:srgbClr val="C8C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446763" y="3624921"/>
            <a:ext cx="384023" cy="850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5" b="0" i="0">
                <a:solidFill>
                  <a:srgbClr val="222222"/>
                </a:solidFill>
                <a:latin typeface="맑은 고딕"/>
              </a:rPr>
              <a:t>R-1029-03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116624" y="3575226"/>
            <a:ext cx="587124" cy="186731"/>
          </a:xfrm>
          <a:prstGeom prst="rect">
            <a:avLst/>
          </a:prstGeom>
          <a:noFill/>
          <a:ln w="6350">
            <a:solidFill>
              <a:srgbClr val="C8C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164813" y="3624921"/>
            <a:ext cx="118864" cy="850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5" b="0" i="0">
                <a:solidFill>
                  <a:srgbClr val="222222"/>
                </a:solidFill>
                <a:latin typeface="맑은 고딕"/>
              </a:rPr>
              <a:t>A룸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703749" y="3575226"/>
            <a:ext cx="482951" cy="186731"/>
          </a:xfrm>
          <a:prstGeom prst="rect">
            <a:avLst/>
          </a:prstGeom>
          <a:noFill/>
          <a:ln w="6350">
            <a:solidFill>
              <a:srgbClr val="C8C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751938" y="3624921"/>
            <a:ext cx="179264" cy="850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5" b="0" i="0">
                <a:solidFill>
                  <a:srgbClr val="222222"/>
                </a:solidFill>
                <a:latin typeface="맑은 고딕"/>
              </a:rPr>
              <a:t>박OO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186701" y="3575226"/>
            <a:ext cx="832498" cy="186731"/>
          </a:xfrm>
          <a:prstGeom prst="rect">
            <a:avLst/>
          </a:prstGeom>
          <a:noFill/>
          <a:ln w="6350">
            <a:solidFill>
              <a:srgbClr val="C8C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234890" y="3624921"/>
            <a:ext cx="469361" cy="850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5" b="0" i="0">
                <a:solidFill>
                  <a:srgbClr val="222222"/>
                </a:solidFill>
                <a:latin typeface="맑은 고딕"/>
              </a:rPr>
              <a:t>15:00~17:00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019199" y="3575226"/>
            <a:ext cx="617420" cy="186731"/>
          </a:xfrm>
          <a:prstGeom prst="rect">
            <a:avLst/>
          </a:prstGeom>
          <a:noFill/>
          <a:ln w="6350">
            <a:solidFill>
              <a:srgbClr val="C8C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4067388" y="3612077"/>
            <a:ext cx="198601" cy="113031"/>
          </a:xfrm>
          <a:prstGeom prst="roundRect">
            <a:avLst>
              <a:gd name="adj" fmla="val 20062"/>
            </a:avLst>
          </a:prstGeom>
          <a:noFill/>
          <a:ln w="635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112742" y="3629085"/>
            <a:ext cx="139691" cy="7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91" b="1" i="0">
                <a:solidFill>
                  <a:srgbClr val="222222"/>
                </a:solidFill>
                <a:latin typeface="맑은 고딕"/>
              </a:rPr>
              <a:t>취소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36619" y="3575226"/>
            <a:ext cx="985568" cy="186731"/>
          </a:xfrm>
          <a:prstGeom prst="rect">
            <a:avLst/>
          </a:prstGeom>
          <a:noFill/>
          <a:ln w="6350">
            <a:solidFill>
              <a:srgbClr val="C8C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684808" y="3624921"/>
            <a:ext cx="42669" cy="850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5" b="0" i="0">
                <a:solidFill>
                  <a:srgbClr val="222222"/>
                </a:solidFill>
                <a:latin typeface="맑은 고딕"/>
              </a:rPr>
              <a:t>-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310700" y="3917863"/>
            <a:ext cx="1105952" cy="1893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1316370" y="3923533"/>
            <a:ext cx="220304" cy="177962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6" name="Connector 105"/>
          <p:cNvCxnSpPr/>
          <p:nvPr/>
        </p:nvCxnSpPr>
        <p:spPr>
          <a:xfrm>
            <a:off x="1536674" y="3923533"/>
            <a:ext cx="0" cy="177962"/>
          </a:xfrm>
          <a:prstGeom prst="line">
            <a:avLst/>
          </a:prstGeom>
          <a:ln w="6350">
            <a:solidFill>
              <a:srgbClr val="C8C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1407078" y="3968887"/>
            <a:ext cx="42669" cy="850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5" b="1" i="0">
                <a:solidFill>
                  <a:srgbClr val="222222"/>
                </a:solidFill>
                <a:latin typeface="맑은 고딕"/>
              </a:rPr>
              <a:t>&lt;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536674" y="3923533"/>
            <a:ext cx="212598" cy="177962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>
            <a:off x="1749272" y="3923533"/>
            <a:ext cx="0" cy="177962"/>
          </a:xfrm>
          <a:prstGeom prst="line">
            <a:avLst/>
          </a:prstGeom>
          <a:ln w="6350">
            <a:solidFill>
              <a:srgbClr val="C8C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1627383" y="3968887"/>
            <a:ext cx="42669" cy="850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5" b="1" i="0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749272" y="3923533"/>
            <a:ext cx="223493" cy="1779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2" name="Connector 111"/>
          <p:cNvCxnSpPr/>
          <p:nvPr/>
        </p:nvCxnSpPr>
        <p:spPr>
          <a:xfrm>
            <a:off x="1972766" y="3923533"/>
            <a:ext cx="0" cy="177962"/>
          </a:xfrm>
          <a:prstGeom prst="line">
            <a:avLst/>
          </a:prstGeom>
          <a:ln w="6350">
            <a:solidFill>
              <a:srgbClr val="C8C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1839981" y="3968887"/>
            <a:ext cx="42960" cy="850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5" b="1" i="0">
                <a:solidFill>
                  <a:srgbClr val="222222"/>
                </a:solidFill>
                <a:latin typeface="맑은 고딕"/>
              </a:rPr>
              <a:t>2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972766" y="3923533"/>
            <a:ext cx="223582" cy="1779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>
            <a:off x="2196348" y="3923533"/>
            <a:ext cx="0" cy="177962"/>
          </a:xfrm>
          <a:prstGeom prst="line">
            <a:avLst/>
          </a:prstGeom>
          <a:ln w="6350">
            <a:solidFill>
              <a:srgbClr val="C8C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2063475" y="3968887"/>
            <a:ext cx="43065" cy="850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5" b="1" i="0">
                <a:solidFill>
                  <a:srgbClr val="222222"/>
                </a:solidFill>
                <a:latin typeface="맑은 고딕"/>
              </a:rPr>
              <a:t>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287057" y="3968887"/>
            <a:ext cx="42669" cy="850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5" b="1" i="0">
                <a:solidFill>
                  <a:srgbClr val="222222"/>
                </a:solidFill>
                <a:latin typeface="맑은 고딕"/>
              </a:rPr>
              <a:t>&gt;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5169000" y="3921761"/>
            <a:ext cx="541061" cy="18141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5254039" y="3968798"/>
            <a:ext cx="499840" cy="850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5" b="1" i="0">
                <a:solidFill>
                  <a:srgbClr val="222222"/>
                </a:solidFill>
                <a:latin typeface="맑은 고딕"/>
              </a:rPr>
              <a:t>엑셀 다운로드</a:t>
            </a:r>
          </a:p>
        </p:txBody>
      </p:sp>
      <p:sp>
        <p:nvSpPr>
          <p:cNvPr id="120" name="Oval 119"/>
          <p:cNvSpPr/>
          <p:nvPr/>
        </p:nvSpPr>
        <p:spPr>
          <a:xfrm>
            <a:off x="61630" y="1958096"/>
            <a:ext cx="173736" cy="173736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1" name="Oval 120"/>
          <p:cNvSpPr/>
          <p:nvPr/>
        </p:nvSpPr>
        <p:spPr>
          <a:xfrm>
            <a:off x="1194572" y="2431006"/>
            <a:ext cx="173736" cy="173736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2" name="Oval 121"/>
          <p:cNvSpPr/>
          <p:nvPr/>
        </p:nvSpPr>
        <p:spPr>
          <a:xfrm>
            <a:off x="5136050" y="2538368"/>
            <a:ext cx="173736" cy="173736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23" name="Oval 122"/>
          <p:cNvSpPr/>
          <p:nvPr/>
        </p:nvSpPr>
        <p:spPr>
          <a:xfrm>
            <a:off x="1229502" y="2791657"/>
            <a:ext cx="173736" cy="173736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24" name="Oval 123"/>
          <p:cNvSpPr/>
          <p:nvPr/>
        </p:nvSpPr>
        <p:spPr>
          <a:xfrm>
            <a:off x="4483640" y="3156705"/>
            <a:ext cx="173736" cy="173736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125" name="Oval 124"/>
          <p:cNvSpPr/>
          <p:nvPr/>
        </p:nvSpPr>
        <p:spPr>
          <a:xfrm>
            <a:off x="3866220" y="3156705"/>
            <a:ext cx="173736" cy="173736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126" name="Oval 125"/>
          <p:cNvSpPr/>
          <p:nvPr/>
        </p:nvSpPr>
        <p:spPr>
          <a:xfrm>
            <a:off x="1223832" y="3830995"/>
            <a:ext cx="173736" cy="173736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127" name="Oval 126"/>
          <p:cNvSpPr/>
          <p:nvPr/>
        </p:nvSpPr>
        <p:spPr>
          <a:xfrm>
            <a:off x="4967832" y="3921761"/>
            <a:ext cx="173736" cy="173736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080760" y="1444752"/>
            <a:ext cx="5973775" cy="237744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Description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080760" y="1682496"/>
            <a:ext cx="5973775" cy="4846320"/>
          </a:xfrm>
          <a:prstGeom prst="rect">
            <a:avLst/>
          </a:prstGeom>
          <a:noFill/>
          <a:ln w="9525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6172200" y="1783080"/>
            <a:ext cx="5790895" cy="170688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217920" y="1801368"/>
            <a:ext cx="5699455" cy="1341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222222"/>
                </a:solidFill>
                <a:latin typeface="맑은 고딕"/>
              </a:rPr>
              <a:t>화면 구성 요소</a:t>
            </a:r>
          </a:p>
        </p:txBody>
      </p:sp>
      <p:sp>
        <p:nvSpPr>
          <p:cNvPr id="132" name="Oval 131"/>
          <p:cNvSpPr/>
          <p:nvPr/>
        </p:nvSpPr>
        <p:spPr>
          <a:xfrm>
            <a:off x="6172200" y="1994916"/>
            <a:ext cx="155448" cy="155448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6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446520" y="1990344"/>
            <a:ext cx="551657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맑은 고딕"/>
              </a:rPr>
              <a:t>사이드 메뉴</a:t>
            </a:r>
            <a:r>
              <a:rPr sz="800">
                <a:solidFill>
                  <a:srgbClr val="222222"/>
                </a:solidFill>
                <a:latin typeface="맑은 고딕"/>
              </a:rPr>
              <a:t>  현재 메뉴 강조</a:t>
            </a:r>
          </a:p>
        </p:txBody>
      </p:sp>
      <p:sp>
        <p:nvSpPr>
          <p:cNvPr id="134" name="Oval 133"/>
          <p:cNvSpPr/>
          <p:nvPr/>
        </p:nvSpPr>
        <p:spPr>
          <a:xfrm>
            <a:off x="6172200" y="2161032"/>
            <a:ext cx="155448" cy="155448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6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446520" y="2156460"/>
            <a:ext cx="551657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맑은 고딕"/>
              </a:rPr>
              <a:t>검색 필터</a:t>
            </a:r>
            <a:r>
              <a:rPr sz="800">
                <a:solidFill>
                  <a:srgbClr val="222222"/>
                </a:solidFill>
                <a:latin typeface="맑은 고딕"/>
              </a:rPr>
              <a:t>  기간(기본 오늘), 스터디룸, 상태, 예약자 검색</a:t>
            </a:r>
          </a:p>
        </p:txBody>
      </p:sp>
      <p:sp>
        <p:nvSpPr>
          <p:cNvPr id="136" name="Oval 135"/>
          <p:cNvSpPr/>
          <p:nvPr/>
        </p:nvSpPr>
        <p:spPr>
          <a:xfrm>
            <a:off x="6172200" y="2327148"/>
            <a:ext cx="155448" cy="155448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6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446520" y="2322576"/>
            <a:ext cx="551657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맑은 고딕"/>
              </a:rPr>
              <a:t>조회 버튼</a:t>
            </a:r>
            <a:r>
              <a:rPr sz="800">
                <a:solidFill>
                  <a:srgbClr val="222222"/>
                </a:solidFill>
                <a:latin typeface="맑은 고딕"/>
              </a:rPr>
              <a:t>  필터 조건으로 다시 조회</a:t>
            </a:r>
          </a:p>
        </p:txBody>
      </p:sp>
      <p:sp>
        <p:nvSpPr>
          <p:cNvPr id="138" name="Oval 137"/>
          <p:cNvSpPr/>
          <p:nvPr/>
        </p:nvSpPr>
        <p:spPr>
          <a:xfrm>
            <a:off x="6172200" y="2493264"/>
            <a:ext cx="155448" cy="155448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6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446520" y="2488692"/>
            <a:ext cx="551657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맑은 고딕"/>
              </a:rPr>
              <a:t>예약 표</a:t>
            </a:r>
            <a:r>
              <a:rPr sz="800">
                <a:solidFill>
                  <a:srgbClr val="222222"/>
                </a:solidFill>
                <a:latin typeface="맑은 고딕"/>
              </a:rPr>
              <a:t>  예약번호, 스터디룸, 예약자, 시간, 상태. 열 머리글로 정렬</a:t>
            </a:r>
          </a:p>
        </p:txBody>
      </p:sp>
      <p:sp>
        <p:nvSpPr>
          <p:cNvPr id="140" name="Oval 139"/>
          <p:cNvSpPr/>
          <p:nvPr/>
        </p:nvSpPr>
        <p:spPr>
          <a:xfrm>
            <a:off x="6172200" y="2659380"/>
            <a:ext cx="155448" cy="155448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6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446520" y="2654808"/>
            <a:ext cx="551657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맑은 고딕"/>
              </a:rPr>
              <a:t>상태 배지</a:t>
            </a:r>
            <a:r>
              <a:rPr sz="800">
                <a:solidFill>
                  <a:srgbClr val="222222"/>
                </a:solidFill>
                <a:latin typeface="맑은 고딕"/>
              </a:rPr>
              <a:t>  예약됨/이용중/완료/취소/노쇼. 문구와 모양으로 구분</a:t>
            </a:r>
          </a:p>
        </p:txBody>
      </p:sp>
      <p:sp>
        <p:nvSpPr>
          <p:cNvPr id="142" name="Oval 141"/>
          <p:cNvSpPr/>
          <p:nvPr/>
        </p:nvSpPr>
        <p:spPr>
          <a:xfrm>
            <a:off x="6172200" y="2825496"/>
            <a:ext cx="155448" cy="155448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65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446520" y="2820924"/>
            <a:ext cx="551657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맑은 고딕"/>
              </a:rPr>
              <a:t>관리 버튼</a:t>
            </a:r>
            <a:r>
              <a:rPr sz="800">
                <a:solidFill>
                  <a:srgbClr val="222222"/>
                </a:solidFill>
                <a:latin typeface="맑은 고딕"/>
              </a:rPr>
              <a:t>  취소, 노쇼 처리. 처리 전 확인 창</a:t>
            </a:r>
          </a:p>
        </p:txBody>
      </p:sp>
      <p:sp>
        <p:nvSpPr>
          <p:cNvPr id="144" name="Oval 143"/>
          <p:cNvSpPr/>
          <p:nvPr/>
        </p:nvSpPr>
        <p:spPr>
          <a:xfrm>
            <a:off x="6172200" y="2991612"/>
            <a:ext cx="155448" cy="155448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65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446520" y="2987040"/>
            <a:ext cx="551657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맑은 고딕"/>
              </a:rPr>
              <a:t>페이지 이동</a:t>
            </a:r>
            <a:r>
              <a:rPr sz="800">
                <a:solidFill>
                  <a:srgbClr val="222222"/>
                </a:solidFill>
                <a:latin typeface="맑은 고딕"/>
              </a:rPr>
              <a:t>  20건 단위</a:t>
            </a:r>
          </a:p>
        </p:txBody>
      </p:sp>
      <p:sp>
        <p:nvSpPr>
          <p:cNvPr id="146" name="Oval 145"/>
          <p:cNvSpPr/>
          <p:nvPr/>
        </p:nvSpPr>
        <p:spPr>
          <a:xfrm>
            <a:off x="6172200" y="3157728"/>
            <a:ext cx="155448" cy="155448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65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446520" y="3153156"/>
            <a:ext cx="551657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맑은 고딕"/>
              </a:rPr>
              <a:t>엑셀 다운로드</a:t>
            </a:r>
            <a:r>
              <a:rPr sz="800">
                <a:solidFill>
                  <a:srgbClr val="222222"/>
                </a:solidFill>
                <a:latin typeface="맑은 고딕"/>
              </a:rPr>
              <a:t>  현재 조건의 전체 결과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6172200" y="3328415"/>
            <a:ext cx="5790895" cy="170688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6217920" y="3346703"/>
            <a:ext cx="5699455" cy="1341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222222"/>
                </a:solidFill>
                <a:latin typeface="맑은 고딕"/>
              </a:rPr>
              <a:t>상태별 화면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217920" y="3535680"/>
            <a:ext cx="574517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맑은 고딕"/>
              </a:rPr>
              <a:t>· </a:t>
            </a:r>
            <a:r>
              <a:rPr b="1" sz="800">
                <a:solidFill>
                  <a:srgbClr val="222222"/>
                </a:solidFill>
                <a:latin typeface="맑은 고딕"/>
              </a:rPr>
              <a:t>결과 없음</a:t>
            </a:r>
            <a:r>
              <a:rPr sz="800">
                <a:solidFill>
                  <a:srgbClr val="6B6B73"/>
                </a:solidFill>
                <a:latin typeface="맑은 고딕"/>
              </a:rPr>
              <a:t>  |  조건에 맞는 예약 없음  -&gt;  표 자리에 [안내] 문구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217920" y="3701796"/>
            <a:ext cx="574517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맑은 고딕"/>
              </a:rPr>
              <a:t>· </a:t>
            </a:r>
            <a:r>
              <a:rPr b="1" sz="800">
                <a:solidFill>
                  <a:srgbClr val="222222"/>
                </a:solidFill>
                <a:latin typeface="맑은 고딕"/>
              </a:rPr>
              <a:t>처리 확인</a:t>
            </a:r>
            <a:r>
              <a:rPr sz="800">
                <a:solidFill>
                  <a:srgbClr val="6B6B73"/>
                </a:solidFill>
                <a:latin typeface="맑은 고딕"/>
              </a:rPr>
              <a:t>  |  취소/노쇼 버튼 클릭  -&gt;  확인 창(사유 입력 필수)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172200" y="3877056"/>
            <a:ext cx="5790895" cy="170688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6217920" y="3895344"/>
            <a:ext cx="5699455" cy="1341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222222"/>
                </a:solidFill>
                <a:latin typeface="맑은 고딕"/>
              </a:rPr>
              <a:t>처리 규칙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17920" y="4084320"/>
            <a:ext cx="574517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맑은 고딕"/>
              </a:rPr>
              <a:t>- 이용 시작 시각이 지난 예약은 취소할 수 없고 노쇼 처리만 할 수 있다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217920" y="4250436"/>
            <a:ext cx="574517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맑은 고딕"/>
              </a:rPr>
              <a:t>- 모든 처리는 처리자와 사유를 이력에 남긴다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222222"/>
                </a:solidFill>
                <a:latin typeface="맑은 고딕"/>
              </a:rPr>
              <a:t>Mobile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204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B73"/>
                </a:solidFill>
                <a:latin typeface="맑은 고딕"/>
              </a:rPr>
              <a:t>Mobile 시나리오 (375px 기준)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37160" y="91440"/>
          <a:ext cx="11612879" cy="11201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914400"/>
                <a:gridCol w="4434840"/>
                <a:gridCol w="868680"/>
                <a:gridCol w="2788920"/>
                <a:gridCol w="731520"/>
                <a:gridCol w="1874519"/>
              </a:tblGrid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Page Title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</a:rPr>
                        <a:t>로그인  (Mobile)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Screen ID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</a:rPr>
                        <a:t>SCR-001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Date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</a:rPr>
                        <a:t>2026-10-29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Screen Path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</a:rPr>
                        <a:t>/login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Platform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 gridSpan="3"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</a:rPr>
                        <a:t>모바일+PC 반응형 / P0  (이 슬라이드: Mobile 화면)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접근 권한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 gridSpan="5"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</a:rPr>
                        <a:t>전체 공개 (로그인 상태면 SCR-002로 이동)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관련 기능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 gridSpan="5"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</a:rPr>
                        <a:t>F-001 이메일 로그인, F-002 소셜 로그인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관련 API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 gridSpan="5"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</a:rPr>
                        <a:t>API-001 POST /auth/login, API-002 GET /auth/oauth/{provider}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37160" y="6620256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B6B73"/>
                </a:solidFill>
                <a:latin typeface="맑은 고딕"/>
              </a:rPr>
              <a:t>스터디룸 예약 (샘플) 화면설계서 v1.0  ·  low-fidelity wireframe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40135" y="662025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6B6B73"/>
                </a:solidFill>
                <a:latin typeface="맑은 고딕"/>
              </a:rPr>
              <a:t>7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1435608"/>
            <a:ext cx="23317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B6B73"/>
                </a:solidFill>
                <a:latin typeface="맑은 고딕"/>
              </a:rPr>
              <a:t>모바일 기본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1636776"/>
            <a:ext cx="2331720" cy="3554124"/>
          </a:xfrm>
          <a:prstGeom prst="roundRect">
            <a:avLst>
              <a:gd name="adj" fmla="val 5866"/>
            </a:avLst>
          </a:prstGeom>
          <a:solidFill>
            <a:srgbClr val="FFFFFF"/>
          </a:solidFill>
          <a:ln w="6350">
            <a:solidFill>
              <a:srgbClr val="C8C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3377" y="1642993"/>
            <a:ext cx="2319284" cy="136794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76287" y="1655624"/>
            <a:ext cx="715546" cy="11153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0902" y="1668059"/>
            <a:ext cx="729277" cy="808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8" b="0" i="0">
                <a:solidFill>
                  <a:srgbClr val="6B6B73"/>
                </a:solidFill>
                <a:latin typeface="맑은 고딕"/>
              </a:rPr>
              <a:t>studyroom.example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3377" y="1779788"/>
            <a:ext cx="2319284" cy="2984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43377" y="2078248"/>
            <a:ext cx="231928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30428" y="1866256"/>
            <a:ext cx="604741" cy="1181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3" b="1" i="0">
                <a:solidFill>
                  <a:srgbClr val="222222"/>
                </a:solidFill>
                <a:latin typeface="맑은 고딕"/>
              </a:rPr>
              <a:t>StudyRoom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300" y="2264785"/>
            <a:ext cx="1471368" cy="1430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30" b="1" i="0">
                <a:solidFill>
                  <a:srgbClr val="222222"/>
                </a:solidFill>
                <a:latin typeface="맑은 고딕"/>
              </a:rPr>
              <a:t>스터디룸 예약에 로그인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5300" y="2554210"/>
            <a:ext cx="229814" cy="808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8" b="1" i="0">
                <a:solidFill>
                  <a:srgbClr val="6B6B73"/>
                </a:solidFill>
                <a:latin typeface="맑은 고딕"/>
              </a:rPr>
              <a:t>이메일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5300" y="2665744"/>
            <a:ext cx="2095439" cy="198973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3697" y="2717333"/>
            <a:ext cx="767878" cy="932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87" b="0" i="0">
                <a:solidFill>
                  <a:srgbClr val="6B6B73"/>
                </a:solidFill>
                <a:latin typeface="맑은 고딕"/>
              </a:rPr>
              <a:t>name@example.com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5300" y="2945551"/>
            <a:ext cx="306419" cy="808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8" b="1" i="0">
                <a:solidFill>
                  <a:srgbClr val="6B6B73"/>
                </a:solidFill>
                <a:latin typeface="맑은 고딕"/>
              </a:rPr>
              <a:t>비밀번호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5300" y="3057084"/>
            <a:ext cx="2095439" cy="198973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3697" y="3108674"/>
            <a:ext cx="344303" cy="932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87" b="0" i="0">
                <a:solidFill>
                  <a:srgbClr val="6B6B73"/>
                </a:solidFill>
                <a:latin typeface="맑은 고딕"/>
              </a:rPr>
              <a:t>8자 이상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53223" y="3108674"/>
            <a:ext cx="167137" cy="932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87" b="0" i="0">
                <a:solidFill>
                  <a:srgbClr val="6B6B73"/>
                </a:solidFill>
                <a:latin typeface="맑은 고딕"/>
              </a:rPr>
              <a:t>보기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106" y="3361763"/>
            <a:ext cx="464642" cy="932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87" b="0" i="0">
                <a:solidFill>
                  <a:srgbClr val="6B6B73"/>
                </a:solidFill>
                <a:latin typeface="맑은 고딕"/>
              </a:rPr>
              <a:t>로그인 유지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4530" y="3362928"/>
            <a:ext cx="93268" cy="93268"/>
          </a:xfrm>
          <a:prstGeom prst="roundRect">
            <a:avLst>
              <a:gd name="adj" fmla="val 20000"/>
            </a:avLst>
          </a:prstGeom>
          <a:noFill/>
          <a:ln w="635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87893" y="3361763"/>
            <a:ext cx="641808" cy="932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87" b="1" i="0" u="sng">
                <a:solidFill>
                  <a:srgbClr val="2A4DA0"/>
                </a:solidFill>
                <a:latin typeface="맑은 고딕"/>
              </a:rPr>
              <a:t>비밀번호 찾기 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5300" y="3563165"/>
            <a:ext cx="2095439" cy="286024"/>
          </a:xfrm>
          <a:prstGeom prst="roundRect">
            <a:avLst>
              <a:gd name="adj" fmla="val 26086"/>
            </a:avLst>
          </a:prstGeom>
          <a:solidFill>
            <a:srgbClr val="3F3F46"/>
          </a:solidFill>
          <a:ln w="6350">
            <a:solidFill>
              <a:srgbClr val="3F3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90028" y="3649244"/>
            <a:ext cx="292490" cy="1057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85" b="1" i="0">
                <a:solidFill>
                  <a:srgbClr val="FFFFFF"/>
                </a:solidFill>
                <a:latin typeface="맑은 고딕"/>
              </a:rPr>
              <a:t>로그인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6415" y="3954894"/>
            <a:ext cx="153209" cy="808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538" b="0" i="0">
                <a:solidFill>
                  <a:srgbClr val="9A9AA2"/>
                </a:solidFill>
                <a:latin typeface="맑은 고딕"/>
              </a:rPr>
              <a:t>또는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5300" y="4147261"/>
            <a:ext cx="2095439" cy="286024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635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5670" y="4233340"/>
            <a:ext cx="639580" cy="1057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85" b="1" i="0">
                <a:solidFill>
                  <a:srgbClr val="222222"/>
                </a:solidFill>
                <a:latin typeface="맑은 고딕"/>
              </a:rPr>
              <a:t>카카오로 시작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5300" y="4483028"/>
            <a:ext cx="2095439" cy="286024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635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3269" y="4569108"/>
            <a:ext cx="542083" cy="1057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85" b="1" i="0">
                <a:solidFill>
                  <a:srgbClr val="222222"/>
                </a:solidFill>
                <a:latin typeface="맑은 고딕"/>
              </a:rPr>
              <a:t>구글로 시작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2576" y="4905847"/>
            <a:ext cx="976084" cy="932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587" b="0" i="0">
                <a:solidFill>
                  <a:srgbClr val="6B6B73"/>
                </a:solidFill>
                <a:latin typeface="맑은 고딕"/>
              </a:rPr>
              <a:t>아직 회원이 아니신가요?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33470" y="4905847"/>
            <a:ext cx="427872" cy="932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587" b="1" i="0" u="sng">
                <a:solidFill>
                  <a:srgbClr val="2A4DA0"/>
                </a:solidFill>
                <a:latin typeface="맑은 고딕"/>
              </a:rPr>
              <a:t>회원가입 &gt;</a:t>
            </a:r>
          </a:p>
        </p:txBody>
      </p:sp>
      <p:sp>
        <p:nvSpPr>
          <p:cNvPr id="33" name="Oval 32"/>
          <p:cNvSpPr/>
          <p:nvPr/>
        </p:nvSpPr>
        <p:spPr>
          <a:xfrm>
            <a:off x="143377" y="1578620"/>
            <a:ext cx="173736" cy="173736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34" name="Oval 33"/>
          <p:cNvSpPr/>
          <p:nvPr/>
        </p:nvSpPr>
        <p:spPr>
          <a:xfrm>
            <a:off x="54132" y="2547992"/>
            <a:ext cx="173736" cy="173736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35" name="Oval 34"/>
          <p:cNvSpPr/>
          <p:nvPr/>
        </p:nvSpPr>
        <p:spPr>
          <a:xfrm>
            <a:off x="54132" y="2939333"/>
            <a:ext cx="173736" cy="173736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6" name="Oval 35"/>
          <p:cNvSpPr/>
          <p:nvPr/>
        </p:nvSpPr>
        <p:spPr>
          <a:xfrm>
            <a:off x="224393" y="3322695"/>
            <a:ext cx="173736" cy="173736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7" name="Oval 36"/>
          <p:cNvSpPr/>
          <p:nvPr/>
        </p:nvSpPr>
        <p:spPr>
          <a:xfrm>
            <a:off x="1537495" y="3322743"/>
            <a:ext cx="173736" cy="173736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8" name="Oval 37"/>
          <p:cNvSpPr/>
          <p:nvPr/>
        </p:nvSpPr>
        <p:spPr>
          <a:xfrm>
            <a:off x="54132" y="3563165"/>
            <a:ext cx="173736" cy="173736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39" name="Oval 38"/>
          <p:cNvSpPr/>
          <p:nvPr/>
        </p:nvSpPr>
        <p:spPr>
          <a:xfrm>
            <a:off x="174650" y="4066611"/>
            <a:ext cx="173736" cy="173736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40" name="Oval 39"/>
          <p:cNvSpPr/>
          <p:nvPr/>
        </p:nvSpPr>
        <p:spPr>
          <a:xfrm>
            <a:off x="1441077" y="4704679"/>
            <a:ext cx="173736" cy="173736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51760" y="1435608"/>
            <a:ext cx="23317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B6B73"/>
                </a:solidFill>
                <a:latin typeface="맑은 고딕"/>
              </a:rPr>
              <a:t>모바일 / 로그인 실패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51760" y="1636776"/>
            <a:ext cx="2331720" cy="2541963"/>
          </a:xfrm>
          <a:prstGeom prst="roundRect">
            <a:avLst>
              <a:gd name="adj" fmla="val 5866"/>
            </a:avLst>
          </a:prstGeom>
          <a:solidFill>
            <a:srgbClr val="FFFFFF"/>
          </a:solidFill>
          <a:ln w="6350">
            <a:solidFill>
              <a:srgbClr val="C8C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657977" y="1642993"/>
            <a:ext cx="2319284" cy="136794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490887" y="1655624"/>
            <a:ext cx="715546" cy="11153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65502" y="1668059"/>
            <a:ext cx="729277" cy="808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8" b="0" i="0">
                <a:solidFill>
                  <a:srgbClr val="6B6B73"/>
                </a:solidFill>
                <a:latin typeface="맑은 고딕"/>
              </a:rPr>
              <a:t>studyroom.example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57977" y="1779788"/>
            <a:ext cx="2319284" cy="2984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2657977" y="2078248"/>
            <a:ext cx="231928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745028" y="1866256"/>
            <a:ext cx="604741" cy="1181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3" b="1" i="0">
                <a:solidFill>
                  <a:srgbClr val="222222"/>
                </a:solidFill>
                <a:latin typeface="맑은 고딕"/>
              </a:rPr>
              <a:t>StudyRoom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69900" y="2264785"/>
            <a:ext cx="1471368" cy="1430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30" b="1" i="0">
                <a:solidFill>
                  <a:srgbClr val="222222"/>
                </a:solidFill>
                <a:latin typeface="맑은 고딕"/>
              </a:rPr>
              <a:t>스터디룸 예약에 로그인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69900" y="2523121"/>
            <a:ext cx="2095439" cy="220056"/>
          </a:xfrm>
          <a:prstGeom prst="roundRect">
            <a:avLst>
              <a:gd name="adj" fmla="val 22604"/>
            </a:avLst>
          </a:prstGeom>
          <a:solidFill>
            <a:srgbClr val="FFF3D6"/>
          </a:solidFill>
          <a:ln w="6350">
            <a:solidFill>
              <a:srgbClr val="E6C7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63169" y="2585300"/>
            <a:ext cx="2159418" cy="932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87" b="0" i="0">
                <a:solidFill>
                  <a:srgbClr val="6B4500"/>
                </a:solidFill>
                <a:latin typeface="맑은 고딕"/>
              </a:rPr>
              <a:t>[오류] 이메일 또는 비밀번호가 맞지 않아요. (2/5회)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69900" y="2836445"/>
            <a:ext cx="229814" cy="808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8" b="1" i="0">
                <a:solidFill>
                  <a:srgbClr val="6B6B73"/>
                </a:solidFill>
                <a:latin typeface="맑은 고딕"/>
              </a:rPr>
              <a:t>이메일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769900" y="2947979"/>
            <a:ext cx="2095439" cy="198973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838297" y="2999569"/>
            <a:ext cx="767878" cy="932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87" b="0" i="0">
                <a:solidFill>
                  <a:srgbClr val="6B6B73"/>
                </a:solidFill>
                <a:latin typeface="맑은 고딕"/>
              </a:rPr>
              <a:t>name@example.com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69900" y="3227786"/>
            <a:ext cx="306419" cy="808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8" b="1" i="0">
                <a:solidFill>
                  <a:srgbClr val="6B6B73"/>
                </a:solidFill>
                <a:latin typeface="맑은 고딕"/>
              </a:rPr>
              <a:t>비밀번호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769900" y="3339320"/>
            <a:ext cx="2095439" cy="198973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435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2769900" y="3712395"/>
            <a:ext cx="2095439" cy="286024"/>
          </a:xfrm>
          <a:prstGeom prst="roundRect">
            <a:avLst>
              <a:gd name="adj" fmla="val 26086"/>
            </a:avLst>
          </a:prstGeom>
          <a:solidFill>
            <a:srgbClr val="3F3F46"/>
          </a:solidFill>
          <a:ln w="6350">
            <a:solidFill>
              <a:srgbClr val="3F3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04628" y="3798474"/>
            <a:ext cx="292490" cy="1057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85" b="1" i="0">
                <a:solidFill>
                  <a:srgbClr val="FFFFFF"/>
                </a:solidFill>
                <a:latin typeface="맑은 고딕"/>
              </a:rPr>
              <a:t>로그인</a:t>
            </a:r>
          </a:p>
        </p:txBody>
      </p:sp>
      <p:sp>
        <p:nvSpPr>
          <p:cNvPr id="59" name="Oval 58"/>
          <p:cNvSpPr/>
          <p:nvPr/>
        </p:nvSpPr>
        <p:spPr>
          <a:xfrm>
            <a:off x="2568732" y="2523121"/>
            <a:ext cx="173736" cy="173736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9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772400" y="1444752"/>
            <a:ext cx="4282135" cy="237744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Description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772400" y="1682496"/>
            <a:ext cx="4282135" cy="4846320"/>
          </a:xfrm>
          <a:prstGeom prst="rect">
            <a:avLst/>
          </a:prstGeom>
          <a:noFill/>
          <a:ln w="9525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863840" y="1783080"/>
            <a:ext cx="4099255" cy="170688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909560" y="1801368"/>
            <a:ext cx="4007815" cy="1341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222222"/>
                </a:solidFill>
                <a:latin typeface="맑은 고딕"/>
              </a:rPr>
              <a:t>화면 구성 요소</a:t>
            </a:r>
          </a:p>
        </p:txBody>
      </p:sp>
      <p:sp>
        <p:nvSpPr>
          <p:cNvPr id="64" name="Oval 63"/>
          <p:cNvSpPr/>
          <p:nvPr/>
        </p:nvSpPr>
        <p:spPr>
          <a:xfrm>
            <a:off x="7863840" y="1994916"/>
            <a:ext cx="155448" cy="155448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6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38160" y="1990344"/>
            <a:ext cx="382493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맑은 고딕"/>
              </a:rPr>
              <a:t>글로벌 헤더</a:t>
            </a:r>
            <a:r>
              <a:rPr sz="800">
                <a:solidFill>
                  <a:srgbClr val="222222"/>
                </a:solidFill>
                <a:latin typeface="맑은 고딕"/>
              </a:rPr>
              <a:t>  로고를 누르면 홈</a:t>
            </a:r>
          </a:p>
        </p:txBody>
      </p:sp>
      <p:sp>
        <p:nvSpPr>
          <p:cNvPr id="66" name="Oval 65"/>
          <p:cNvSpPr/>
          <p:nvPr/>
        </p:nvSpPr>
        <p:spPr>
          <a:xfrm>
            <a:off x="7863840" y="2161032"/>
            <a:ext cx="155448" cy="155448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6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38160" y="2156460"/>
            <a:ext cx="382493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맑은 고딕"/>
              </a:rPr>
              <a:t>이메일 입력</a:t>
            </a:r>
            <a:r>
              <a:rPr sz="800">
                <a:solidFill>
                  <a:srgbClr val="222222"/>
                </a:solidFill>
                <a:latin typeface="맑은 고딕"/>
              </a:rPr>
              <a:t>  이메일 형식 검사, 포커스를 잃을 때 오류 표시</a:t>
            </a:r>
          </a:p>
        </p:txBody>
      </p:sp>
      <p:sp>
        <p:nvSpPr>
          <p:cNvPr id="68" name="Oval 67"/>
          <p:cNvSpPr/>
          <p:nvPr/>
        </p:nvSpPr>
        <p:spPr>
          <a:xfrm>
            <a:off x="7863840" y="2327148"/>
            <a:ext cx="155448" cy="155448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6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38160" y="2322576"/>
            <a:ext cx="382493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맑은 고딕"/>
              </a:rPr>
              <a:t>비밀번호 입력</a:t>
            </a:r>
            <a:r>
              <a:rPr sz="800">
                <a:solidFill>
                  <a:srgbClr val="222222"/>
                </a:solidFill>
                <a:latin typeface="맑은 고딕"/>
              </a:rPr>
              <a:t>  8자 이상, 눈 아이콘으로 표시/숨김</a:t>
            </a:r>
          </a:p>
        </p:txBody>
      </p:sp>
      <p:sp>
        <p:nvSpPr>
          <p:cNvPr id="70" name="Oval 69"/>
          <p:cNvSpPr/>
          <p:nvPr/>
        </p:nvSpPr>
        <p:spPr>
          <a:xfrm>
            <a:off x="7863840" y="2493264"/>
            <a:ext cx="155448" cy="155448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6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2488692"/>
            <a:ext cx="382493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맑은 고딕"/>
              </a:rPr>
              <a:t>로그인 유지</a:t>
            </a:r>
            <a:r>
              <a:rPr sz="800">
                <a:solidFill>
                  <a:srgbClr val="222222"/>
                </a:solidFill>
                <a:latin typeface="맑은 고딕"/>
              </a:rPr>
              <a:t>  체크 시 30일 유지</a:t>
            </a:r>
          </a:p>
        </p:txBody>
      </p:sp>
      <p:sp>
        <p:nvSpPr>
          <p:cNvPr id="72" name="Oval 71"/>
          <p:cNvSpPr/>
          <p:nvPr/>
        </p:nvSpPr>
        <p:spPr>
          <a:xfrm>
            <a:off x="7863840" y="2659380"/>
            <a:ext cx="155448" cy="155448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6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138160" y="2654808"/>
            <a:ext cx="382493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맑은 고딕"/>
              </a:rPr>
              <a:t>비밀번호 찾기</a:t>
            </a:r>
            <a:r>
              <a:rPr sz="800">
                <a:solidFill>
                  <a:srgbClr val="222222"/>
                </a:solidFill>
                <a:latin typeface="맑은 고딕"/>
              </a:rPr>
              <a:t>  비밀번호 재설정 화면으로 이동</a:t>
            </a:r>
          </a:p>
        </p:txBody>
      </p:sp>
      <p:sp>
        <p:nvSpPr>
          <p:cNvPr id="74" name="Oval 73"/>
          <p:cNvSpPr/>
          <p:nvPr/>
        </p:nvSpPr>
        <p:spPr>
          <a:xfrm>
            <a:off x="7863840" y="2825496"/>
            <a:ext cx="155448" cy="155448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65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138160" y="2820924"/>
            <a:ext cx="382493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맑은 고딕"/>
              </a:rPr>
              <a:t>로그인 버튼</a:t>
            </a:r>
            <a:r>
              <a:rPr sz="800">
                <a:solidFill>
                  <a:srgbClr val="222222"/>
                </a:solidFill>
                <a:latin typeface="맑은 고딕"/>
              </a:rPr>
              <a:t>  두 입력이 모두 유효할 때만 활성</a:t>
            </a:r>
          </a:p>
        </p:txBody>
      </p:sp>
      <p:sp>
        <p:nvSpPr>
          <p:cNvPr id="76" name="Oval 75"/>
          <p:cNvSpPr/>
          <p:nvPr/>
        </p:nvSpPr>
        <p:spPr>
          <a:xfrm>
            <a:off x="7863840" y="2991612"/>
            <a:ext cx="155448" cy="155448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65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138160" y="2987040"/>
            <a:ext cx="382493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맑은 고딕"/>
              </a:rPr>
              <a:t>소셜 로그인</a:t>
            </a:r>
            <a:r>
              <a:rPr sz="800">
                <a:solidFill>
                  <a:srgbClr val="222222"/>
                </a:solidFill>
                <a:latin typeface="맑은 고딕"/>
              </a:rPr>
              <a:t>  카카오, 구글. 처음이면 약관 동의 후 가입</a:t>
            </a:r>
          </a:p>
        </p:txBody>
      </p:sp>
      <p:sp>
        <p:nvSpPr>
          <p:cNvPr id="78" name="Oval 77"/>
          <p:cNvSpPr/>
          <p:nvPr/>
        </p:nvSpPr>
        <p:spPr>
          <a:xfrm>
            <a:off x="7863840" y="3157728"/>
            <a:ext cx="155448" cy="155448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65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138160" y="3153156"/>
            <a:ext cx="382493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맑은 고딕"/>
              </a:rPr>
              <a:t>회원가입 링크</a:t>
            </a:r>
            <a:r>
              <a:rPr sz="800">
                <a:solidFill>
                  <a:srgbClr val="222222"/>
                </a:solidFill>
                <a:latin typeface="맑은 고딕"/>
              </a:rPr>
              <a:t>  회원가입 화면으로 이동</a:t>
            </a:r>
          </a:p>
        </p:txBody>
      </p:sp>
      <p:sp>
        <p:nvSpPr>
          <p:cNvPr id="80" name="Oval 79"/>
          <p:cNvSpPr/>
          <p:nvPr/>
        </p:nvSpPr>
        <p:spPr>
          <a:xfrm>
            <a:off x="7863840" y="3323844"/>
            <a:ext cx="155448" cy="155448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650" b="1">
                <a:solidFill>
                  <a:srgbClr val="FFFFFF"/>
                </a:solidFill>
                <a:latin typeface="맑은 고딕"/>
              </a:rPr>
              <a:t>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138160" y="3319272"/>
            <a:ext cx="382493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맑은 고딕"/>
              </a:rPr>
              <a:t>오류 안내</a:t>
            </a:r>
            <a:r>
              <a:rPr sz="800">
                <a:solidFill>
                  <a:srgbClr val="222222"/>
                </a:solidFill>
                <a:latin typeface="맑은 고딕"/>
              </a:rPr>
              <a:t>  로그인 실패 시 입력칸 위에 표시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863840" y="3494531"/>
            <a:ext cx="4099255" cy="170688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909560" y="3512819"/>
            <a:ext cx="4007815" cy="1341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222222"/>
                </a:solidFill>
                <a:latin typeface="맑은 고딕"/>
              </a:rPr>
              <a:t>상태별 화면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909560" y="3701795"/>
            <a:ext cx="405353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맑은 고딕"/>
              </a:rPr>
              <a:t>· </a:t>
            </a:r>
            <a:r>
              <a:rPr b="1" sz="800">
                <a:solidFill>
                  <a:srgbClr val="222222"/>
                </a:solidFill>
                <a:latin typeface="맑은 고딕"/>
              </a:rPr>
              <a:t>기본</a:t>
            </a:r>
            <a:r>
              <a:rPr sz="800">
                <a:solidFill>
                  <a:srgbClr val="6B6B73"/>
                </a:solidFill>
                <a:latin typeface="맑은 고딕"/>
              </a:rPr>
              <a:t>  |  처음 진입  -&gt;  빈 입력칸, 로그인 버튼 비활성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909560" y="3867911"/>
            <a:ext cx="405353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맑은 고딕"/>
              </a:rPr>
              <a:t>· </a:t>
            </a:r>
            <a:r>
              <a:rPr b="1" sz="800">
                <a:solidFill>
                  <a:srgbClr val="222222"/>
                </a:solidFill>
                <a:latin typeface="맑은 고딕"/>
              </a:rPr>
              <a:t>입력 오류</a:t>
            </a:r>
            <a:r>
              <a:rPr sz="800">
                <a:solidFill>
                  <a:srgbClr val="6B6B73"/>
                </a:solidFill>
                <a:latin typeface="맑은 고딕"/>
              </a:rPr>
              <a:t>  |  이메일 형식이 틀림  -&gt;  입력칸 아래 [오류] 문구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909560" y="4034027"/>
            <a:ext cx="4053535" cy="300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맑은 고딕"/>
              </a:rPr>
              <a:t>· </a:t>
            </a:r>
            <a:r>
              <a:rPr b="1" sz="800">
                <a:solidFill>
                  <a:srgbClr val="222222"/>
                </a:solidFill>
                <a:latin typeface="맑은 고딕"/>
              </a:rPr>
              <a:t>로그인 실패</a:t>
            </a:r>
            <a:r>
              <a:rPr sz="800">
                <a:solidFill>
                  <a:srgbClr val="6B6B73"/>
                </a:solidFill>
                <a:latin typeface="맑은 고딕"/>
              </a:rPr>
              <a:t>  |  이메일 또는 비밀번호 불일치  -&gt;  상단 [오류] 안내, 비밀번호 칸 비움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909560" y="4334255"/>
            <a:ext cx="405353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맑은 고딕"/>
              </a:rPr>
              <a:t>· </a:t>
            </a:r>
            <a:r>
              <a:rPr b="1" sz="800">
                <a:solidFill>
                  <a:srgbClr val="222222"/>
                </a:solidFill>
                <a:latin typeface="맑은 고딕"/>
              </a:rPr>
              <a:t>잠김</a:t>
            </a:r>
            <a:r>
              <a:rPr sz="800">
                <a:solidFill>
                  <a:srgbClr val="6B6B73"/>
                </a:solidFill>
                <a:latin typeface="맑은 고딕"/>
              </a:rPr>
              <a:t>  |  5회 연속 실패  -&gt;  10분 뒤 다시 시도 안내, 로그인 버튼 비활성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863840" y="4509515"/>
            <a:ext cx="4099255" cy="170688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909560" y="4527804"/>
            <a:ext cx="4007815" cy="1341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222222"/>
                </a:solidFill>
                <a:latin typeface="맑은 고딕"/>
              </a:rPr>
              <a:t>처리 규칙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909560" y="4716779"/>
            <a:ext cx="405353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맑은 고딕"/>
              </a:rPr>
              <a:t>- 실패 횟수는 계정 단위로 세고, 성공하면 0으로 초기화한다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909560" y="4882895"/>
            <a:ext cx="405353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맑은 고딕"/>
              </a:rPr>
              <a:t>- 오류 문구는 이메일과 비밀번호 중 무엇이 틀렸는지 알려 주지 않는다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909560" y="5049011"/>
            <a:ext cx="405353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맑은 고딕"/>
              </a:rPr>
              <a:t>- 로그인 성공 시 직전에 보던 화면으로, 없으면 SCR-002로 이동한다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37160" y="91440"/>
          <a:ext cx="11612879" cy="11201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914400"/>
                <a:gridCol w="4434840"/>
                <a:gridCol w="868680"/>
                <a:gridCol w="2788920"/>
                <a:gridCol w="731520"/>
                <a:gridCol w="1874519"/>
              </a:tblGrid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Page Title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</a:rPr>
                        <a:t>스터디룸 목록  (Mobile)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Screen ID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</a:rPr>
                        <a:t>SCR-002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Date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</a:rPr>
                        <a:t>2026-10-29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Screen Path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</a:rPr>
                        <a:t>/rooms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Platform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 gridSpan="3"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</a:rPr>
                        <a:t>모바일 전용 / P0  (이 슬라이드: Mobile 화면)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접근 권한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 gridSpan="5"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</a:rPr>
                        <a:t>로그인 사용자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관련 기능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 gridSpan="5"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</a:rPr>
                        <a:t>F-010 스터디룸 조회, F-011 날짜·인원 필터, F-012 즐겨찾기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관련 API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 gridSpan="5"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</a:rPr>
                        <a:t>API-010 GET /rooms, API-012 POST /rooms/{id}/favorite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37160" y="6620256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B6B73"/>
                </a:solidFill>
                <a:latin typeface="맑은 고딕"/>
              </a:rPr>
              <a:t>스터디룸 예약 (샘플) 화면설계서 v1.0  ·  low-fidelity wireframe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40135" y="662025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6B6B73"/>
                </a:solidFill>
                <a:latin typeface="맑은 고딕"/>
              </a:rPr>
              <a:t>8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1435608"/>
            <a:ext cx="23317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B6B73"/>
                </a:solidFill>
                <a:latin typeface="맑은 고딕"/>
              </a:rPr>
              <a:t>모바일 기본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1636776"/>
            <a:ext cx="2331720" cy="3222145"/>
          </a:xfrm>
          <a:prstGeom prst="roundRect">
            <a:avLst>
              <a:gd name="adj" fmla="val 5866"/>
            </a:avLst>
          </a:prstGeom>
          <a:solidFill>
            <a:srgbClr val="FFFFFF"/>
          </a:solidFill>
          <a:ln w="6350">
            <a:solidFill>
              <a:srgbClr val="C8C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3377" y="1642993"/>
            <a:ext cx="2319284" cy="136794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74760" y="1655624"/>
            <a:ext cx="918697" cy="11153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9375" y="1668059"/>
            <a:ext cx="986669" cy="808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8" b="0" i="0">
                <a:solidFill>
                  <a:srgbClr val="6B6B73"/>
                </a:solidFill>
                <a:latin typeface="맑은 고딕"/>
              </a:rPr>
              <a:t>studyroom.example/rooms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3377" y="1779788"/>
            <a:ext cx="2319284" cy="2984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43377" y="2078248"/>
            <a:ext cx="231928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30428" y="1866256"/>
            <a:ext cx="604741" cy="1181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3" b="1" i="0">
                <a:solidFill>
                  <a:srgbClr val="222222"/>
                </a:solidFill>
                <a:latin typeface="맑은 고딕"/>
              </a:rPr>
              <a:t>StudyRoom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9934" y="1878011"/>
            <a:ext cx="77498" cy="932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87" b="0" i="0">
                <a:solidFill>
                  <a:srgbClr val="6B6B73"/>
                </a:solidFill>
                <a:latin typeface="맑은 고딕"/>
              </a:rPr>
              <a:t>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0428" y="2165299"/>
            <a:ext cx="1399031" cy="198973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8825" y="2216888"/>
            <a:ext cx="457957" cy="932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87" b="0" i="0">
                <a:solidFill>
                  <a:srgbClr val="6B6B73"/>
                </a:solidFill>
                <a:latin typeface="맑은 고딕"/>
              </a:rPr>
              <a:t>10/29 (목)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3360" y="2216888"/>
            <a:ext cx="56289" cy="932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87" b="0" i="0">
                <a:solidFill>
                  <a:srgbClr val="6B6B73"/>
                </a:solidFill>
                <a:latin typeface="맑은 고딕"/>
              </a:rPr>
              <a:t>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91639" y="2165299"/>
            <a:ext cx="683971" cy="198973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60037" y="2216888"/>
            <a:ext cx="130367" cy="932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87" b="0" i="0">
                <a:solidFill>
                  <a:srgbClr val="6B6B73"/>
                </a:solidFill>
                <a:latin typeface="맑은 고딕"/>
              </a:rPr>
              <a:t>4명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59510" y="2216888"/>
            <a:ext cx="56289" cy="932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87" b="0" i="0">
                <a:solidFill>
                  <a:srgbClr val="6B6B73"/>
                </a:solidFill>
                <a:latin typeface="맑은 고딕"/>
              </a:rPr>
              <a:t>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0428" y="2476195"/>
            <a:ext cx="1281085" cy="20762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36646" y="2482413"/>
            <a:ext cx="334310" cy="195184"/>
          </a:xfrm>
          <a:prstGeom prst="roundRect">
            <a:avLst>
              <a:gd name="adj" fmla="val 50000"/>
            </a:avLst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570957" y="2482413"/>
            <a:ext cx="0" cy="195184"/>
          </a:xfrm>
          <a:prstGeom prst="line">
            <a:avLst/>
          </a:prstGeom>
          <a:ln w="6350">
            <a:solidFill>
              <a:srgbClr val="C8C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6133" y="2532156"/>
            <a:ext cx="167137" cy="932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87" b="1" i="0">
                <a:solidFill>
                  <a:srgbClr val="FFFFFF"/>
                </a:solidFill>
                <a:latin typeface="맑은 고딕"/>
              </a:rPr>
              <a:t>전체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0957" y="2482413"/>
            <a:ext cx="313616" cy="195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884573" y="2482413"/>
            <a:ext cx="0" cy="195184"/>
          </a:xfrm>
          <a:prstGeom prst="line">
            <a:avLst/>
          </a:prstGeom>
          <a:ln w="6350">
            <a:solidFill>
              <a:srgbClr val="C8C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70443" y="2532156"/>
            <a:ext cx="130367" cy="932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87" b="1" i="0">
                <a:solidFill>
                  <a:srgbClr val="222222"/>
                </a:solidFill>
                <a:latin typeface="맑은 고딕"/>
              </a:rPr>
              <a:t>4인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4573" y="2482413"/>
            <a:ext cx="312839" cy="195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1197412" y="2482413"/>
            <a:ext cx="0" cy="195184"/>
          </a:xfrm>
          <a:prstGeom prst="line">
            <a:avLst/>
          </a:prstGeom>
          <a:ln w="6350">
            <a:solidFill>
              <a:srgbClr val="C8C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84060" y="2532156"/>
            <a:ext cx="130367" cy="932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87" b="1" i="0">
                <a:solidFill>
                  <a:srgbClr val="222222"/>
                </a:solidFill>
                <a:latin typeface="맑은 고딕"/>
              </a:rPr>
              <a:t>6인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96899" y="2532156"/>
            <a:ext cx="130367" cy="932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87" b="1" i="0">
                <a:solidFill>
                  <a:srgbClr val="222222"/>
                </a:solidFill>
                <a:latin typeface="맑은 고딕"/>
              </a:rPr>
              <a:t>8인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0428" y="2758430"/>
            <a:ext cx="2145182" cy="585358"/>
          </a:xfrm>
          <a:prstGeom prst="roundRect">
            <a:avLst>
              <a:gd name="adj" fmla="val 10622"/>
            </a:avLst>
          </a:prstGeom>
          <a:solidFill>
            <a:srgbClr val="FFFFFF"/>
          </a:solidFill>
          <a:ln w="6350">
            <a:solidFill>
              <a:srgbClr val="C8C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3697" y="2857917"/>
            <a:ext cx="166805" cy="1181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34" b="1" i="0">
                <a:solidFill>
                  <a:srgbClr val="222222"/>
                </a:solidFill>
                <a:latin typeface="맑은 고딕"/>
              </a:rPr>
              <a:t>A룸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4801" y="2871421"/>
            <a:ext cx="130367" cy="932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87" b="0" i="0">
                <a:solidFill>
                  <a:srgbClr val="6B6B73"/>
                </a:solidFill>
                <a:latin typeface="맑은 고딕"/>
              </a:rPr>
              <a:t>4인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869045" y="2857334"/>
            <a:ext cx="413297" cy="123969"/>
          </a:xfrm>
          <a:prstGeom prst="roundRect">
            <a:avLst>
              <a:gd name="adj" fmla="val 20062"/>
            </a:avLst>
          </a:prstGeom>
          <a:solidFill>
            <a:srgbClr val="E4E4E7"/>
          </a:solidFill>
          <a:ln w="635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918788" y="2875988"/>
            <a:ext cx="392216" cy="808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8" b="1" i="0">
                <a:solidFill>
                  <a:srgbClr val="222222"/>
                </a:solidFill>
                <a:latin typeface="맑은 고딕"/>
              </a:rPr>
              <a:t>★ 즐겨찾기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3697" y="3030464"/>
            <a:ext cx="829002" cy="932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87" b="0" i="0">
                <a:solidFill>
                  <a:srgbClr val="6B6B73"/>
                </a:solidFill>
                <a:latin typeface="맑은 고딕"/>
              </a:rPr>
              <a:t>10:00부터 예약 가능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3697" y="3169687"/>
            <a:ext cx="1371051" cy="43525"/>
          </a:xfrm>
          <a:prstGeom prst="roundRect">
            <a:avLst>
              <a:gd name="adj" fmla="val 5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30428" y="3405968"/>
            <a:ext cx="2145182" cy="585358"/>
          </a:xfrm>
          <a:prstGeom prst="roundRect">
            <a:avLst>
              <a:gd name="adj" fmla="val 10622"/>
            </a:avLst>
          </a:prstGeom>
          <a:solidFill>
            <a:srgbClr val="FFFFFF"/>
          </a:solidFill>
          <a:ln w="6350">
            <a:solidFill>
              <a:srgbClr val="C8C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" y="3505455"/>
            <a:ext cx="163595" cy="1181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34" b="1" i="0">
                <a:solidFill>
                  <a:srgbClr val="222222"/>
                </a:solidFill>
                <a:latin typeface="맑은 고딕"/>
              </a:rPr>
              <a:t>B룸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81" y="3518959"/>
            <a:ext cx="130367" cy="932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87" b="0" i="0">
                <a:solidFill>
                  <a:srgbClr val="6B6B73"/>
                </a:solidFill>
                <a:latin typeface="맑은 고딕"/>
              </a:rPr>
              <a:t>6인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869045" y="3504872"/>
            <a:ext cx="413297" cy="123969"/>
          </a:xfrm>
          <a:prstGeom prst="roundRect">
            <a:avLst>
              <a:gd name="adj" fmla="val 20062"/>
            </a:avLst>
          </a:prstGeom>
          <a:noFill/>
          <a:ln w="635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18788" y="3523526"/>
            <a:ext cx="392216" cy="808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8" b="1" i="0">
                <a:solidFill>
                  <a:srgbClr val="222222"/>
                </a:solidFill>
                <a:latin typeface="맑은 고딕"/>
              </a:rPr>
              <a:t>☆ 즐겨찾기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3697" y="3678002"/>
            <a:ext cx="829002" cy="932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87" b="0" i="0">
                <a:solidFill>
                  <a:srgbClr val="6B6B73"/>
                </a:solidFill>
                <a:latin typeface="맑은 고딕"/>
              </a:rPr>
              <a:t>13:00부터 예약 가능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3697" y="3817225"/>
            <a:ext cx="1175186" cy="43525"/>
          </a:xfrm>
          <a:prstGeom prst="roundRect">
            <a:avLst>
              <a:gd name="adj" fmla="val 5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230428" y="4053506"/>
            <a:ext cx="2145182" cy="467218"/>
          </a:xfrm>
          <a:prstGeom prst="roundRect">
            <a:avLst>
              <a:gd name="adj" fmla="val 13308"/>
            </a:avLst>
          </a:prstGeom>
          <a:solidFill>
            <a:srgbClr val="F4F4F5"/>
          </a:solidFill>
          <a:ln w="6350">
            <a:solidFill>
              <a:srgbClr val="C8C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3697" y="4152993"/>
            <a:ext cx="162959" cy="1181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34" b="1" i="0">
                <a:solidFill>
                  <a:srgbClr val="222222"/>
                </a:solidFill>
                <a:latin typeface="맑은 고딕"/>
              </a:rPr>
              <a:t>C룸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8777" y="4166497"/>
            <a:ext cx="130367" cy="932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87" b="0" i="0">
                <a:solidFill>
                  <a:srgbClr val="6B6B73"/>
                </a:solidFill>
                <a:latin typeface="맑은 고딕"/>
              </a:rPr>
              <a:t>8인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3697" y="4325540"/>
            <a:ext cx="902543" cy="932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87" b="0" i="0">
                <a:solidFill>
                  <a:srgbClr val="6B6B73"/>
                </a:solidFill>
                <a:latin typeface="맑은 고딕"/>
              </a:rPr>
              <a:t>[안내] 오늘 예약 마감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43377" y="4620211"/>
            <a:ext cx="2319284" cy="23249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143377" y="4620211"/>
            <a:ext cx="2319285" cy="0"/>
          </a:xfrm>
          <a:prstGeom prst="line">
            <a:avLst/>
          </a:prstGeom>
          <a:ln w="6350">
            <a:solidFill>
              <a:srgbClr val="C8C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43377" y="4852703"/>
            <a:ext cx="2319285" cy="0"/>
          </a:xfrm>
          <a:prstGeom prst="line">
            <a:avLst/>
          </a:prstGeom>
          <a:ln w="6350">
            <a:solidFill>
              <a:srgbClr val="C8C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360130" y="4626429"/>
            <a:ext cx="303220" cy="2200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360130" y="4846485"/>
            <a:ext cx="303221" cy="0"/>
          </a:xfrm>
          <a:prstGeom prst="line">
            <a:avLst/>
          </a:prstGeom>
          <a:ln w="12435">
            <a:solidFill>
              <a:srgbClr val="3F3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447181" y="4682390"/>
            <a:ext cx="167137" cy="932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87" b="1" i="0">
                <a:solidFill>
                  <a:srgbClr val="222222"/>
                </a:solidFill>
                <a:latin typeface="맑은 고딕"/>
              </a:rPr>
              <a:t>목록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96343" y="4682390"/>
            <a:ext cx="297505" cy="932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87" b="1" i="0">
                <a:solidFill>
                  <a:srgbClr val="6B6B73"/>
                </a:solidFill>
                <a:latin typeface="맑은 고딕"/>
              </a:rPr>
              <a:t>내 예약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29739" y="4682390"/>
            <a:ext cx="167137" cy="932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87" b="1" i="0">
                <a:solidFill>
                  <a:srgbClr val="6B6B73"/>
                </a:solidFill>
                <a:latin typeface="맑은 고딕"/>
              </a:rPr>
              <a:t>마이</a:t>
            </a:r>
          </a:p>
        </p:txBody>
      </p:sp>
      <p:sp>
        <p:nvSpPr>
          <p:cNvPr id="57" name="Oval 56"/>
          <p:cNvSpPr/>
          <p:nvPr/>
        </p:nvSpPr>
        <p:spPr>
          <a:xfrm>
            <a:off x="29260" y="2165299"/>
            <a:ext cx="173736" cy="173736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58" name="Oval 57"/>
          <p:cNvSpPr/>
          <p:nvPr/>
        </p:nvSpPr>
        <p:spPr>
          <a:xfrm>
            <a:off x="1691639" y="1964131"/>
            <a:ext cx="173736" cy="173736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59" name="Oval 58"/>
          <p:cNvSpPr/>
          <p:nvPr/>
        </p:nvSpPr>
        <p:spPr>
          <a:xfrm>
            <a:off x="143560" y="2389327"/>
            <a:ext cx="173736" cy="173736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60" name="Oval 59"/>
          <p:cNvSpPr/>
          <p:nvPr/>
        </p:nvSpPr>
        <p:spPr>
          <a:xfrm>
            <a:off x="29260" y="2758430"/>
            <a:ext cx="173736" cy="173736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61" name="Oval 60"/>
          <p:cNvSpPr/>
          <p:nvPr/>
        </p:nvSpPr>
        <p:spPr>
          <a:xfrm>
            <a:off x="1667877" y="2832451"/>
            <a:ext cx="173736" cy="173736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62" name="Oval 61"/>
          <p:cNvSpPr/>
          <p:nvPr/>
        </p:nvSpPr>
        <p:spPr>
          <a:xfrm>
            <a:off x="62727" y="4539561"/>
            <a:ext cx="173736" cy="173736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651760" y="1435608"/>
            <a:ext cx="23317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B6B73"/>
                </a:solidFill>
                <a:latin typeface="맑은 고딕"/>
              </a:rPr>
              <a:t>모바일 / 빈 상태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651760" y="1636776"/>
            <a:ext cx="2331720" cy="2639701"/>
          </a:xfrm>
          <a:prstGeom prst="roundRect">
            <a:avLst>
              <a:gd name="adj" fmla="val 5866"/>
            </a:avLst>
          </a:prstGeom>
          <a:solidFill>
            <a:srgbClr val="FFFFFF"/>
          </a:solidFill>
          <a:ln w="6350">
            <a:solidFill>
              <a:srgbClr val="C8C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657977" y="1642993"/>
            <a:ext cx="2319284" cy="136794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3389360" y="1655624"/>
            <a:ext cx="918697" cy="11153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463975" y="1668059"/>
            <a:ext cx="986669" cy="808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38" b="0" i="0">
                <a:solidFill>
                  <a:srgbClr val="6B6B73"/>
                </a:solidFill>
                <a:latin typeface="맑은 고딕"/>
              </a:rPr>
              <a:t>studyroom.example/rooms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657977" y="1779788"/>
            <a:ext cx="2319284" cy="2984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2657977" y="2078248"/>
            <a:ext cx="231928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2745028" y="1866256"/>
            <a:ext cx="604741" cy="1181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3" b="1" i="0">
                <a:solidFill>
                  <a:srgbClr val="222222"/>
                </a:solidFill>
                <a:latin typeface="맑은 고딕"/>
              </a:rPr>
              <a:t>StudyRoom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824534" y="1878011"/>
            <a:ext cx="77498" cy="932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87" b="0" i="0">
                <a:solidFill>
                  <a:srgbClr val="6B6B73"/>
                </a:solidFill>
                <a:latin typeface="맑은 고딕"/>
              </a:rPr>
              <a:t>☰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745028" y="2165299"/>
            <a:ext cx="1399031" cy="198973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813425" y="2216888"/>
            <a:ext cx="457957" cy="932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87" b="0" i="0">
                <a:solidFill>
                  <a:srgbClr val="6B6B73"/>
                </a:solidFill>
                <a:latin typeface="맑은 고딕"/>
              </a:rPr>
              <a:t>10/29 (목)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027960" y="2216888"/>
            <a:ext cx="56289" cy="932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87" b="0" i="0">
                <a:solidFill>
                  <a:srgbClr val="6B6B73"/>
                </a:solidFill>
                <a:latin typeface="맑은 고딕"/>
              </a:rPr>
              <a:t>▾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206240" y="2165299"/>
            <a:ext cx="683971" cy="198973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274637" y="2216888"/>
            <a:ext cx="177165" cy="932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87" b="0" i="0">
                <a:solidFill>
                  <a:srgbClr val="6B6B73"/>
                </a:solidFill>
                <a:latin typeface="맑은 고딕"/>
              </a:rPr>
              <a:t>10명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774110" y="2216888"/>
            <a:ext cx="56289" cy="932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87" b="0" i="0">
                <a:solidFill>
                  <a:srgbClr val="6B6B73"/>
                </a:solidFill>
                <a:latin typeface="맑은 고딕"/>
              </a:rPr>
              <a:t>▾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858667" y="2830616"/>
            <a:ext cx="1917904" cy="1181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34" b="1" i="0">
                <a:solidFill>
                  <a:srgbClr val="222222"/>
                </a:solidFill>
                <a:latin typeface="맑은 고딕"/>
              </a:rPr>
              <a:t>[안내] 조건에 맞는 스터디룸이 없어요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87793" y="3015599"/>
            <a:ext cx="1059652" cy="932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587" b="0" i="0">
                <a:solidFill>
                  <a:srgbClr val="6B6B73"/>
                </a:solidFill>
                <a:latin typeface="맑은 고딕"/>
              </a:rPr>
              <a:t>날짜나 인원을 바꿔 보세요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553164" y="3217002"/>
            <a:ext cx="528911" cy="198973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585298" y="3268591"/>
            <a:ext cx="464642" cy="932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587" b="1" i="0">
                <a:solidFill>
                  <a:srgbClr val="222222"/>
                </a:solidFill>
                <a:latin typeface="맑은 고딕"/>
              </a:rPr>
              <a:t>필터 초기화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657977" y="4037767"/>
            <a:ext cx="2319284" cy="23249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>
            <a:off x="2657977" y="4037767"/>
            <a:ext cx="2319285" cy="0"/>
          </a:xfrm>
          <a:prstGeom prst="line">
            <a:avLst/>
          </a:prstGeom>
          <a:ln w="6350">
            <a:solidFill>
              <a:srgbClr val="C8C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657977" y="4270259"/>
            <a:ext cx="2319285" cy="0"/>
          </a:xfrm>
          <a:prstGeom prst="line">
            <a:avLst/>
          </a:prstGeom>
          <a:ln w="6350">
            <a:solidFill>
              <a:srgbClr val="C8C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ectangle 84"/>
          <p:cNvSpPr/>
          <p:nvPr/>
        </p:nvSpPr>
        <p:spPr>
          <a:xfrm>
            <a:off x="2874730" y="4043985"/>
            <a:ext cx="303220" cy="2200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>
            <a:off x="2874730" y="4264041"/>
            <a:ext cx="303221" cy="0"/>
          </a:xfrm>
          <a:prstGeom prst="line">
            <a:avLst/>
          </a:prstGeom>
          <a:ln w="12435">
            <a:solidFill>
              <a:srgbClr val="3F3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2961781" y="4099946"/>
            <a:ext cx="167137" cy="932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87" b="1" i="0">
                <a:solidFill>
                  <a:srgbClr val="222222"/>
                </a:solidFill>
                <a:latin typeface="맑은 고딕"/>
              </a:rPr>
              <a:t>목록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710943" y="4099946"/>
            <a:ext cx="297505" cy="932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87" b="1" i="0">
                <a:solidFill>
                  <a:srgbClr val="6B6B73"/>
                </a:solidFill>
                <a:latin typeface="맑은 고딕"/>
              </a:rPr>
              <a:t>내 예약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544339" y="4099946"/>
            <a:ext cx="167137" cy="932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87" b="1" i="0">
                <a:solidFill>
                  <a:srgbClr val="6B6B73"/>
                </a:solidFill>
                <a:latin typeface="맑은 고딕"/>
              </a:rPr>
              <a:t>마이</a:t>
            </a:r>
          </a:p>
        </p:txBody>
      </p:sp>
      <p:sp>
        <p:nvSpPr>
          <p:cNvPr id="90" name="Oval 89"/>
          <p:cNvSpPr/>
          <p:nvPr/>
        </p:nvSpPr>
        <p:spPr>
          <a:xfrm>
            <a:off x="2577327" y="2370673"/>
            <a:ext cx="173736" cy="173736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772400" y="1444752"/>
            <a:ext cx="4282135" cy="237744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Description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772400" y="1682496"/>
            <a:ext cx="4282135" cy="4846320"/>
          </a:xfrm>
          <a:prstGeom prst="rect">
            <a:avLst/>
          </a:prstGeom>
          <a:noFill/>
          <a:ln w="9525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863840" y="1783080"/>
            <a:ext cx="4099255" cy="170688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909560" y="1801368"/>
            <a:ext cx="4007815" cy="1341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222222"/>
                </a:solidFill>
                <a:latin typeface="맑은 고딕"/>
              </a:rPr>
              <a:t>화면 구성 요소</a:t>
            </a:r>
          </a:p>
        </p:txBody>
      </p:sp>
      <p:sp>
        <p:nvSpPr>
          <p:cNvPr id="95" name="Oval 94"/>
          <p:cNvSpPr/>
          <p:nvPr/>
        </p:nvSpPr>
        <p:spPr>
          <a:xfrm>
            <a:off x="7863840" y="1994916"/>
            <a:ext cx="155448" cy="155448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6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138160" y="1990344"/>
            <a:ext cx="382493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맑은 고딕"/>
              </a:rPr>
              <a:t>날짜 선택</a:t>
            </a:r>
            <a:r>
              <a:rPr sz="800">
                <a:solidFill>
                  <a:srgbClr val="222222"/>
                </a:solidFill>
                <a:latin typeface="맑은 고딕"/>
              </a:rPr>
              <a:t>  오늘부터 14일 이내만 선택</a:t>
            </a:r>
          </a:p>
        </p:txBody>
      </p:sp>
      <p:sp>
        <p:nvSpPr>
          <p:cNvPr id="97" name="Oval 96"/>
          <p:cNvSpPr/>
          <p:nvPr/>
        </p:nvSpPr>
        <p:spPr>
          <a:xfrm>
            <a:off x="7863840" y="2161032"/>
            <a:ext cx="155448" cy="155448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6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138160" y="2156460"/>
            <a:ext cx="382493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맑은 고딕"/>
              </a:rPr>
              <a:t>인원 선택</a:t>
            </a:r>
            <a:r>
              <a:rPr sz="800">
                <a:solidFill>
                  <a:srgbClr val="222222"/>
                </a:solidFill>
                <a:latin typeface="맑은 고딕"/>
              </a:rPr>
              <a:t>  1~10명</a:t>
            </a:r>
          </a:p>
        </p:txBody>
      </p:sp>
      <p:sp>
        <p:nvSpPr>
          <p:cNvPr id="99" name="Oval 98"/>
          <p:cNvSpPr/>
          <p:nvPr/>
        </p:nvSpPr>
        <p:spPr>
          <a:xfrm>
            <a:off x="7863840" y="2327148"/>
            <a:ext cx="155448" cy="155448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6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138160" y="2322576"/>
            <a:ext cx="382493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맑은 고딕"/>
              </a:rPr>
              <a:t>크기 필터</a:t>
            </a:r>
            <a:r>
              <a:rPr sz="800">
                <a:solidFill>
                  <a:srgbClr val="222222"/>
                </a:solidFill>
                <a:latin typeface="맑은 고딕"/>
              </a:rPr>
              <a:t>  전체/4인/6인/8인, 하나만 선택</a:t>
            </a:r>
          </a:p>
        </p:txBody>
      </p:sp>
      <p:sp>
        <p:nvSpPr>
          <p:cNvPr id="101" name="Oval 100"/>
          <p:cNvSpPr/>
          <p:nvPr/>
        </p:nvSpPr>
        <p:spPr>
          <a:xfrm>
            <a:off x="7863840" y="2493264"/>
            <a:ext cx="155448" cy="155448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6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138160" y="2488692"/>
            <a:ext cx="382493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맑은 고딕"/>
              </a:rPr>
              <a:t>스터디룸 카드</a:t>
            </a:r>
            <a:r>
              <a:rPr sz="800">
                <a:solidFill>
                  <a:srgbClr val="222222"/>
                </a:solidFill>
                <a:latin typeface="맑은 고딕"/>
              </a:rPr>
              <a:t>  이름, 수용 인원, 가장 빠른 예약 가능 시간. 누르면 상세</a:t>
            </a:r>
          </a:p>
        </p:txBody>
      </p:sp>
      <p:sp>
        <p:nvSpPr>
          <p:cNvPr id="103" name="Oval 102"/>
          <p:cNvSpPr/>
          <p:nvPr/>
        </p:nvSpPr>
        <p:spPr>
          <a:xfrm>
            <a:off x="7863840" y="2659380"/>
            <a:ext cx="155448" cy="155448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6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138160" y="2654808"/>
            <a:ext cx="382493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맑은 고딕"/>
              </a:rPr>
              <a:t>즐겨찾기</a:t>
            </a:r>
            <a:r>
              <a:rPr sz="800">
                <a:solidFill>
                  <a:srgbClr val="222222"/>
                </a:solidFill>
                <a:latin typeface="맑은 고딕"/>
              </a:rPr>
              <a:t>  토글, 즐겨찾기한 방이 목록 위로</a:t>
            </a:r>
          </a:p>
        </p:txBody>
      </p:sp>
      <p:sp>
        <p:nvSpPr>
          <p:cNvPr id="105" name="Oval 104"/>
          <p:cNvSpPr/>
          <p:nvPr/>
        </p:nvSpPr>
        <p:spPr>
          <a:xfrm>
            <a:off x="7863840" y="2825496"/>
            <a:ext cx="155448" cy="155448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65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138160" y="2820924"/>
            <a:ext cx="382493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맑은 고딕"/>
              </a:rPr>
              <a:t>하단 탭 바</a:t>
            </a:r>
            <a:r>
              <a:rPr sz="800">
                <a:solidFill>
                  <a:srgbClr val="222222"/>
                </a:solidFill>
                <a:latin typeface="맑은 고딕"/>
              </a:rPr>
              <a:t>  목록 / 내 예약 / 마이</a:t>
            </a:r>
          </a:p>
        </p:txBody>
      </p:sp>
      <p:sp>
        <p:nvSpPr>
          <p:cNvPr id="107" name="Oval 106"/>
          <p:cNvSpPr/>
          <p:nvPr/>
        </p:nvSpPr>
        <p:spPr>
          <a:xfrm>
            <a:off x="7863840" y="2991612"/>
            <a:ext cx="155448" cy="155448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65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138160" y="2987040"/>
            <a:ext cx="382493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맑은 고딕"/>
              </a:rPr>
              <a:t>빈 상태 안내</a:t>
            </a:r>
            <a:r>
              <a:rPr sz="800">
                <a:solidFill>
                  <a:srgbClr val="222222"/>
                </a:solidFill>
                <a:latin typeface="맑은 고딕"/>
              </a:rPr>
              <a:t>  조건에 맞는 방이 없을 때 필터 초기화 버튼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863840" y="3162299"/>
            <a:ext cx="4099255" cy="170688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909560" y="3180587"/>
            <a:ext cx="4007815" cy="1341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222222"/>
                </a:solidFill>
                <a:latin typeface="맑은 고딕"/>
              </a:rPr>
              <a:t>상태별 화면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909560" y="3369564"/>
            <a:ext cx="405353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맑은 고딕"/>
              </a:rPr>
              <a:t>· </a:t>
            </a:r>
            <a:r>
              <a:rPr b="1" sz="800">
                <a:solidFill>
                  <a:srgbClr val="222222"/>
                </a:solidFill>
                <a:latin typeface="맑은 고딕"/>
              </a:rPr>
              <a:t>로딩</a:t>
            </a:r>
            <a:r>
              <a:rPr sz="800">
                <a:solidFill>
                  <a:srgbClr val="6B6B73"/>
                </a:solidFill>
                <a:latin typeface="맑은 고딕"/>
              </a:rPr>
              <a:t>  |  목록 조회 중  -&gt;  카드 자리에 회색 스켈레톤 3개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09560" y="3535680"/>
            <a:ext cx="405353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맑은 고딕"/>
              </a:rPr>
              <a:t>· </a:t>
            </a:r>
            <a:r>
              <a:rPr b="1" sz="800">
                <a:solidFill>
                  <a:srgbClr val="222222"/>
                </a:solidFill>
                <a:latin typeface="맑은 고딕"/>
              </a:rPr>
              <a:t>빈 상태</a:t>
            </a:r>
            <a:r>
              <a:rPr sz="800">
                <a:solidFill>
                  <a:srgbClr val="6B6B73"/>
                </a:solidFill>
                <a:latin typeface="맑은 고딕"/>
              </a:rPr>
              <a:t>  |  조건에 맞는 방 없음  -&gt;  [안내] 문구 + 필터 초기화 버튼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909560" y="3701796"/>
            <a:ext cx="405353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맑은 고딕"/>
              </a:rPr>
              <a:t>· </a:t>
            </a:r>
            <a:r>
              <a:rPr b="1" sz="800">
                <a:solidFill>
                  <a:srgbClr val="222222"/>
                </a:solidFill>
                <a:latin typeface="맑은 고딕"/>
              </a:rPr>
              <a:t>오류</a:t>
            </a:r>
            <a:r>
              <a:rPr sz="800">
                <a:solidFill>
                  <a:srgbClr val="6B6B73"/>
                </a:solidFill>
                <a:latin typeface="맑은 고딕"/>
              </a:rPr>
              <a:t>  |  조회 실패  -&gt;  [오류] 문구 + 다시 시도 버튼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863840" y="3877056"/>
            <a:ext cx="4099255" cy="170688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909560" y="3895344"/>
            <a:ext cx="4007815" cy="1341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222222"/>
                </a:solidFill>
                <a:latin typeface="맑은 고딕"/>
              </a:rPr>
              <a:t>처리 규칙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09560" y="4084320"/>
            <a:ext cx="405353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맑은 고딕"/>
              </a:rPr>
              <a:t>- 필터를 바꾸면 즉시 다시 조회하고, 선택값은 URL 쿼리에 남긴다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909560" y="4250436"/>
            <a:ext cx="4053535" cy="166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맑은 고딕"/>
              </a:rPr>
              <a:t>- 예약 가능한 시간이 없는 방은 카드를 흐리게 표시하고 맨 아래로 보낸다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286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맑은 고딕"/>
              </a:rPr>
              <a:t>화면 목록 (Screen List)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21792"/>
            <a:ext cx="1161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6B73"/>
                </a:solidFill>
                <a:latin typeface="맑은 고딕"/>
              </a:rPr>
              <a:t>PC 시나리오 3p부터, Mobile 시나리오 6p부터. 번호 마커(주황 원)는 각 슬라이드 Description의 구성 요소 번호와 같습니다. 정오·경고·오류는 색이 아니라 문구로 구분합니다.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60120"/>
          <a:ext cx="3749040" cy="8778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731520"/>
                <a:gridCol w="1600200"/>
                <a:gridCol w="594360"/>
                <a:gridCol w="411480"/>
                <a:gridCol w="411480"/>
              </a:tblGrid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Screen ID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화면명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PC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Mobile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</a:rPr>
                        <a:t>SCR-001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</a:rPr>
                        <a:t>로그인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222222"/>
                          </a:solidFill>
                          <a:latin typeface="맑은 고딕"/>
                        </a:rPr>
                        <a:t>반응형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</a:rPr>
                        <a:t>SCR-002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</a:rPr>
                        <a:t>스터디룸 목록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222222"/>
                          </a:solidFill>
                          <a:latin typeface="맑은 고딕"/>
                        </a:rPr>
                        <a:t>모바일 전용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</a:rPr>
                        <a:t>SCR-003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</a:rPr>
                        <a:t>예약 관리 (관리자)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222222"/>
                          </a:solidFill>
                          <a:latin typeface="맑은 고딕"/>
                        </a:rPr>
                        <a:t>PC 전용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스터디룸 예약 (샘플) 화면설계서 v1.0</dc:title>
  <dc:subject/>
  <dc:creator/>
  <cp:keywords/>
  <dc:description>generated using python-pptx</dc:description>
  <cp:lastModifiedBy/>
  <cp:revision>1</cp:revision>
  <dcterms:created xsi:type="dcterms:W3CDTF">2026-10-29T17:02:25Z</dcterms:created>
  <dcterms:modified xsi:type="dcterms:W3CDTF">2026-10-29T17:02:25Z</dcterms:modified>
  <cp:category/>
</cp:coreProperties>
</file>